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Lst>
  <p:notesMasterIdLst>
    <p:notesMasterId r:id="rId16"/>
  </p:notesMasterIdLst>
  <p:sldIdLst>
    <p:sldId id="257" r:id="rId2"/>
    <p:sldId id="272" r:id="rId3"/>
    <p:sldId id="275" r:id="rId4"/>
    <p:sldId id="260" r:id="rId5"/>
    <p:sldId id="261" r:id="rId6"/>
    <p:sldId id="262" r:id="rId7"/>
    <p:sldId id="301" r:id="rId8"/>
    <p:sldId id="303" r:id="rId9"/>
    <p:sldId id="304" r:id="rId10"/>
    <p:sldId id="305" r:id="rId11"/>
    <p:sldId id="306" r:id="rId12"/>
    <p:sldId id="284" r:id="rId13"/>
    <p:sldId id="298" r:id="rId14"/>
    <p:sldId id="271"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74" d="100"/>
          <a:sy n="74" d="100"/>
        </p:scale>
        <p:origin x="340"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74B6D2-CC7B-4559-B422-BEA985D2B7A4}" type="datetimeFigureOut">
              <a:rPr lang="en-IN" smtClean="0"/>
              <a:t>15-09-2026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24750E-220F-49C7-83F1-44BB09951E8A}" type="slidenum">
              <a:rPr lang="en-IN" smtClean="0"/>
              <a:t>‹#›</a:t>
            </a:fld>
            <a:endParaRPr lang="en-IN"/>
          </a:p>
        </p:txBody>
      </p:sp>
    </p:spTree>
    <p:extLst>
      <p:ext uri="{BB962C8B-B14F-4D97-AF65-F5344CB8AC3E}">
        <p14:creationId xmlns:p14="http://schemas.microsoft.com/office/powerpoint/2010/main" val="15015396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1" name="Google Shape;5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3" name="Google Shape;63;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EEA5E-E971-2CB8-30CF-CFF5FB2F64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1CDDD3-EC9C-42A0-3B50-E10728456C22}"/>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7A09BD0C-0B32-99AF-BD31-4FF3AE85CC0F}"/>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0C444544-44AF-D127-7C56-EB13AD4CFD62}"/>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7</a:t>
            </a:fld>
            <a:endParaRPr lang="en-US" altLang="zh-CN" noProof="0"/>
          </a:p>
        </p:txBody>
      </p:sp>
    </p:spTree>
    <p:extLst>
      <p:ext uri="{BB962C8B-B14F-4D97-AF65-F5344CB8AC3E}">
        <p14:creationId xmlns:p14="http://schemas.microsoft.com/office/powerpoint/2010/main" val="19579833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6975A-7533-3BCD-365E-2851492799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303862-1A6C-1FE3-7DC5-FD2489436329}"/>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37322124-D444-8709-4293-C4D3D3FE1B32}"/>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9A4387DB-541A-9A1D-AF88-1B004A5E38B7}"/>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8</a:t>
            </a:fld>
            <a:endParaRPr lang="en-US" altLang="zh-CN" noProof="0"/>
          </a:p>
        </p:txBody>
      </p:sp>
    </p:spTree>
    <p:extLst>
      <p:ext uri="{BB962C8B-B14F-4D97-AF65-F5344CB8AC3E}">
        <p14:creationId xmlns:p14="http://schemas.microsoft.com/office/powerpoint/2010/main" val="2952440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E2D9C7-011F-E60D-2F12-9E1201F1AD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66C35E-35E2-FA65-C337-2688EB67F517}"/>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F25B1896-319B-1C9A-F890-0EA439CD07DF}"/>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179C2699-838C-A448-6E30-9BF88ADA8056}"/>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9</a:t>
            </a:fld>
            <a:endParaRPr lang="en-US" altLang="zh-CN" noProof="0"/>
          </a:p>
        </p:txBody>
      </p:sp>
    </p:spTree>
    <p:extLst>
      <p:ext uri="{BB962C8B-B14F-4D97-AF65-F5344CB8AC3E}">
        <p14:creationId xmlns:p14="http://schemas.microsoft.com/office/powerpoint/2010/main" val="21182150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A9D3A-2FA8-421C-99EE-668560745B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FE047-5B39-25AE-924D-91BB04ACFBCE}"/>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DC100D90-6F67-FDCB-2CA5-6D0FC7B8C72D}"/>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2CA4148D-DC3F-6302-FE38-134B91D63709}"/>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10</a:t>
            </a:fld>
            <a:endParaRPr lang="en-US" altLang="zh-CN" noProof="0"/>
          </a:p>
        </p:txBody>
      </p:sp>
    </p:spTree>
    <p:extLst>
      <p:ext uri="{BB962C8B-B14F-4D97-AF65-F5344CB8AC3E}">
        <p14:creationId xmlns:p14="http://schemas.microsoft.com/office/powerpoint/2010/main" val="42652399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9765B-0701-9ABC-AA07-EDAD7A5CC3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7885A2-4D51-C50C-4B68-383068708AC8}"/>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6E8B0043-4643-2E43-7605-A3A671E6C25D}"/>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99F85E4F-57D1-DD07-59C6-C7BDEF2745C2}"/>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11</a:t>
            </a:fld>
            <a:endParaRPr lang="en-US" altLang="zh-CN" noProof="0"/>
          </a:p>
        </p:txBody>
      </p:sp>
    </p:spTree>
    <p:extLst>
      <p:ext uri="{BB962C8B-B14F-4D97-AF65-F5344CB8AC3E}">
        <p14:creationId xmlns:p14="http://schemas.microsoft.com/office/powerpoint/2010/main" val="40462838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12</a:t>
            </a:fld>
            <a:endParaRPr lang="en-US" altLang="zh-CN" noProof="0"/>
          </a:p>
        </p:txBody>
      </p:sp>
    </p:spTree>
    <p:extLst>
      <p:ext uri="{BB962C8B-B14F-4D97-AF65-F5344CB8AC3E}">
        <p14:creationId xmlns:p14="http://schemas.microsoft.com/office/powerpoint/2010/main" val="34844979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2C6F12-EEAF-B85A-AB39-1A5528955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A5F6AA-6311-4A9F-9ADF-C80E970B5694}"/>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28D7F0F5-789D-B8A0-DE8F-C1FF91E533C1}"/>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E730C95B-579E-3699-2D76-E6F71E18020A}"/>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13</a:t>
            </a:fld>
            <a:endParaRPr lang="en-US" altLang="zh-CN"/>
          </a:p>
        </p:txBody>
      </p:sp>
    </p:spTree>
    <p:extLst>
      <p:ext uri="{BB962C8B-B14F-4D97-AF65-F5344CB8AC3E}">
        <p14:creationId xmlns:p14="http://schemas.microsoft.com/office/powerpoint/2010/main" val="370341275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GB"/>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B99738AB-B266-406D-9C2E-97966294887E}" type="datetimeFigureOut">
              <a:rPr lang="en-IN" smtClean="0"/>
              <a:t>15-09-2026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836C513-5FCF-4BE2-B422-97353DA86077}" type="slidenum">
              <a:rPr lang="en-IN" smtClean="0"/>
              <a:t>‹#›</a:t>
            </a:fld>
            <a:endParaRPr lang="en-IN"/>
          </a:p>
        </p:txBody>
      </p:sp>
    </p:spTree>
    <p:extLst>
      <p:ext uri="{BB962C8B-B14F-4D97-AF65-F5344CB8AC3E}">
        <p14:creationId xmlns:p14="http://schemas.microsoft.com/office/powerpoint/2010/main" val="35390290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GB"/>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B99738AB-B266-406D-9C2E-97966294887E}" type="datetimeFigureOut">
              <a:rPr lang="en-IN" smtClean="0"/>
              <a:t>15-09-2026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836C513-5FCF-4BE2-B422-97353DA86077}" type="slidenum">
              <a:rPr lang="en-IN" smtClean="0"/>
              <a:t>‹#›</a:t>
            </a:fld>
            <a:endParaRPr lang="en-IN"/>
          </a:p>
        </p:txBody>
      </p:sp>
    </p:spTree>
    <p:extLst>
      <p:ext uri="{BB962C8B-B14F-4D97-AF65-F5344CB8AC3E}">
        <p14:creationId xmlns:p14="http://schemas.microsoft.com/office/powerpoint/2010/main" val="3938653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GB"/>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99738AB-B266-406D-9C2E-97966294887E}" type="datetimeFigureOut">
              <a:rPr lang="en-IN" smtClean="0"/>
              <a:t>15-09-2026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836C513-5FCF-4BE2-B422-97353DA86077}" type="slidenum">
              <a:rPr lang="en-IN" smtClean="0"/>
              <a:t>‹#›</a:t>
            </a:fld>
            <a:endParaRPr lang="en-IN"/>
          </a:p>
        </p:txBody>
      </p:sp>
    </p:spTree>
    <p:extLst>
      <p:ext uri="{BB962C8B-B14F-4D97-AF65-F5344CB8AC3E}">
        <p14:creationId xmlns:p14="http://schemas.microsoft.com/office/powerpoint/2010/main" val="2149527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GB"/>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B99738AB-B266-406D-9C2E-97966294887E}" type="datetimeFigureOut">
              <a:rPr lang="en-IN" smtClean="0"/>
              <a:t>15-09-2026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836C513-5FCF-4BE2-B422-97353DA86077}" type="slidenum">
              <a:rPr lang="en-IN" smtClean="0"/>
              <a:t>‹#›</a:t>
            </a:fld>
            <a:endParaRPr lang="en-IN"/>
          </a:p>
        </p:txBody>
      </p:sp>
    </p:spTree>
    <p:extLst>
      <p:ext uri="{BB962C8B-B14F-4D97-AF65-F5344CB8AC3E}">
        <p14:creationId xmlns:p14="http://schemas.microsoft.com/office/powerpoint/2010/main" val="26263169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GB"/>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B99738AB-B266-406D-9C2E-97966294887E}" type="datetimeFigureOut">
              <a:rPr lang="en-IN" smtClean="0"/>
              <a:t>15-09-2026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836C513-5FCF-4BE2-B422-97353DA86077}" type="slidenum">
              <a:rPr lang="en-IN" smtClean="0"/>
              <a:t>‹#›</a:t>
            </a:fld>
            <a:endParaRPr lang="en-IN"/>
          </a:p>
        </p:txBody>
      </p:sp>
    </p:spTree>
    <p:extLst>
      <p:ext uri="{BB962C8B-B14F-4D97-AF65-F5344CB8AC3E}">
        <p14:creationId xmlns:p14="http://schemas.microsoft.com/office/powerpoint/2010/main" val="1325817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B99738AB-B266-406D-9C2E-97966294887E}" type="datetimeFigureOut">
              <a:rPr lang="en-IN" smtClean="0"/>
              <a:t>15-09-2026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836C513-5FCF-4BE2-B422-97353DA86077}" type="slidenum">
              <a:rPr lang="en-IN" smtClean="0"/>
              <a:t>‹#›</a:t>
            </a:fld>
            <a:endParaRPr lang="en-IN"/>
          </a:p>
        </p:txBody>
      </p:sp>
    </p:spTree>
    <p:extLst>
      <p:ext uri="{BB962C8B-B14F-4D97-AF65-F5344CB8AC3E}">
        <p14:creationId xmlns:p14="http://schemas.microsoft.com/office/powerpoint/2010/main" val="63397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B99738AB-B266-406D-9C2E-97966294887E}" type="datetimeFigureOut">
              <a:rPr lang="en-IN" smtClean="0"/>
              <a:t>15-09-2026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836C513-5FCF-4BE2-B422-97353DA86077}" type="slidenum">
              <a:rPr lang="en-IN" smtClean="0"/>
              <a:t>‹#›</a:t>
            </a:fld>
            <a:endParaRPr lang="en-IN"/>
          </a:p>
        </p:txBody>
      </p:sp>
    </p:spTree>
    <p:extLst>
      <p:ext uri="{BB962C8B-B14F-4D97-AF65-F5344CB8AC3E}">
        <p14:creationId xmlns:p14="http://schemas.microsoft.com/office/powerpoint/2010/main" val="34449341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GB"/>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B99738AB-B266-406D-9C2E-97966294887E}" type="datetimeFigureOut">
              <a:rPr lang="en-IN" smtClean="0"/>
              <a:t>15-09-2026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836C513-5FCF-4BE2-B422-97353DA86077}" type="slidenum">
              <a:rPr lang="en-IN" smtClean="0"/>
              <a:t>‹#›</a:t>
            </a:fld>
            <a:endParaRPr lang="en-IN"/>
          </a:p>
        </p:txBody>
      </p:sp>
    </p:spTree>
    <p:extLst>
      <p:ext uri="{BB962C8B-B14F-4D97-AF65-F5344CB8AC3E}">
        <p14:creationId xmlns:p14="http://schemas.microsoft.com/office/powerpoint/2010/main" val="26498721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B99738AB-B266-406D-9C2E-97966294887E}" type="datetimeFigureOut">
              <a:rPr lang="en-IN" smtClean="0"/>
              <a:t>15-09-2026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836C513-5FCF-4BE2-B422-97353DA86077}" type="slidenum">
              <a:rPr lang="en-IN" smtClean="0"/>
              <a:t>‹#›</a:t>
            </a:fld>
            <a:endParaRPr lang="en-IN"/>
          </a:p>
        </p:txBody>
      </p:sp>
    </p:spTree>
    <p:extLst>
      <p:ext uri="{BB962C8B-B14F-4D97-AF65-F5344CB8AC3E}">
        <p14:creationId xmlns:p14="http://schemas.microsoft.com/office/powerpoint/2010/main" val="6094415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B99738AB-B266-406D-9C2E-97966294887E}" type="datetimeFigureOut">
              <a:rPr lang="en-IN" smtClean="0"/>
              <a:t>15-09-2026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836C513-5FCF-4BE2-B422-97353DA86077}" type="slidenum">
              <a:rPr lang="en-IN" smtClean="0"/>
              <a:t>‹#›</a:t>
            </a:fld>
            <a:endParaRPr lang="en-IN"/>
          </a:p>
        </p:txBody>
      </p:sp>
    </p:spTree>
    <p:extLst>
      <p:ext uri="{BB962C8B-B14F-4D97-AF65-F5344CB8AC3E}">
        <p14:creationId xmlns:p14="http://schemas.microsoft.com/office/powerpoint/2010/main" val="3865446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GB"/>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B99738AB-B266-406D-9C2E-97966294887E}" type="datetimeFigureOut">
              <a:rPr lang="en-IN" smtClean="0"/>
              <a:t>15-09-2026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836C513-5FCF-4BE2-B422-97353DA86077}" type="slidenum">
              <a:rPr lang="en-IN" smtClean="0"/>
              <a:t>‹#›</a:t>
            </a:fld>
            <a:endParaRPr lang="en-IN"/>
          </a:p>
        </p:txBody>
      </p:sp>
    </p:spTree>
    <p:extLst>
      <p:ext uri="{BB962C8B-B14F-4D97-AF65-F5344CB8AC3E}">
        <p14:creationId xmlns:p14="http://schemas.microsoft.com/office/powerpoint/2010/main" val="9272543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GB"/>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B99738AB-B266-406D-9C2E-97966294887E}" type="datetimeFigureOut">
              <a:rPr lang="en-IN" smtClean="0"/>
              <a:t>15-09-2026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836C513-5FCF-4BE2-B422-97353DA86077}" type="slidenum">
              <a:rPr lang="en-IN" smtClean="0"/>
              <a:t>‹#›</a:t>
            </a:fld>
            <a:endParaRPr lang="en-IN"/>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892002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GB"/>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B99738AB-B266-406D-9C2E-97966294887E}" type="datetimeFigureOut">
              <a:rPr lang="en-IN" smtClean="0"/>
              <a:t>15-09-2026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836C513-5FCF-4BE2-B422-97353DA86077}" type="slidenum">
              <a:rPr lang="en-IN" smtClean="0"/>
              <a:t>‹#›</a:t>
            </a:fld>
            <a:endParaRPr lang="en-IN"/>
          </a:p>
        </p:txBody>
      </p:sp>
    </p:spTree>
    <p:extLst>
      <p:ext uri="{BB962C8B-B14F-4D97-AF65-F5344CB8AC3E}">
        <p14:creationId xmlns:p14="http://schemas.microsoft.com/office/powerpoint/2010/main" val="19642540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GB"/>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B99738AB-B266-406D-9C2E-97966294887E}" type="datetimeFigureOut">
              <a:rPr lang="en-IN" smtClean="0"/>
              <a:t>15-09-2026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836C513-5FCF-4BE2-B422-97353DA86077}" type="slidenum">
              <a:rPr lang="en-IN" smtClean="0"/>
              <a:t>‹#›</a:t>
            </a:fld>
            <a:endParaRPr lang="en-IN"/>
          </a:p>
        </p:txBody>
      </p:sp>
    </p:spTree>
    <p:extLst>
      <p:ext uri="{BB962C8B-B14F-4D97-AF65-F5344CB8AC3E}">
        <p14:creationId xmlns:p14="http://schemas.microsoft.com/office/powerpoint/2010/main" val="38391817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GB"/>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B99738AB-B266-406D-9C2E-97966294887E}" type="datetimeFigureOut">
              <a:rPr lang="en-IN" smtClean="0"/>
              <a:t>15-09-2026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836C513-5FCF-4BE2-B422-97353DA86077}" type="slidenum">
              <a:rPr lang="en-IN" smtClean="0"/>
              <a:t>‹#›</a:t>
            </a:fld>
            <a:endParaRPr lang="en-IN"/>
          </a:p>
        </p:txBody>
      </p:sp>
    </p:spTree>
    <p:extLst>
      <p:ext uri="{BB962C8B-B14F-4D97-AF65-F5344CB8AC3E}">
        <p14:creationId xmlns:p14="http://schemas.microsoft.com/office/powerpoint/2010/main" val="39476629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GB"/>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B99738AB-B266-406D-9C2E-97966294887E}" type="datetimeFigureOut">
              <a:rPr lang="en-IN" smtClean="0"/>
              <a:t>15-09-2026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836C513-5FCF-4BE2-B422-97353DA86077}" type="slidenum">
              <a:rPr lang="en-IN" smtClean="0"/>
              <a:t>‹#›</a:t>
            </a:fld>
            <a:endParaRPr lang="en-IN"/>
          </a:p>
        </p:txBody>
      </p:sp>
    </p:spTree>
    <p:extLst>
      <p:ext uri="{BB962C8B-B14F-4D97-AF65-F5344CB8AC3E}">
        <p14:creationId xmlns:p14="http://schemas.microsoft.com/office/powerpoint/2010/main" val="18947442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GB"/>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B99738AB-B266-406D-9C2E-97966294887E}" type="datetimeFigureOut">
              <a:rPr lang="en-IN" smtClean="0"/>
              <a:t>15-09-2026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836C513-5FCF-4BE2-B422-97353DA86077}" type="slidenum">
              <a:rPr lang="en-IN" smtClean="0"/>
              <a:t>‹#›</a:t>
            </a:fld>
            <a:endParaRPr lang="en-IN"/>
          </a:p>
        </p:txBody>
      </p:sp>
    </p:spTree>
    <p:extLst>
      <p:ext uri="{BB962C8B-B14F-4D97-AF65-F5344CB8AC3E}">
        <p14:creationId xmlns:p14="http://schemas.microsoft.com/office/powerpoint/2010/main" val="70664788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15299-DDA8-CF4D-6302-D8EF4173B8D6}"/>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D36F474C-E12E-F256-BE58-01A05389DB42}"/>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C96F439E-F989-8D69-E2FB-A3F28AF29C26}"/>
              </a:ext>
            </a:extLst>
          </p:cNvPr>
          <p:cNvSpPr>
            <a:spLocks noGrp="1"/>
          </p:cNvSpPr>
          <p:nvPr>
            <p:ph type="dt" sz="half" idx="10"/>
          </p:nvPr>
        </p:nvSpPr>
        <p:spPr/>
        <p:txBody>
          <a:bodyPr/>
          <a:lstStyle/>
          <a:p>
            <a:fld id="{B99738AB-B266-406D-9C2E-97966294887E}" type="datetimeFigureOut">
              <a:rPr lang="en-IN" smtClean="0"/>
              <a:t>15-09-2026</a:t>
            </a:fld>
            <a:endParaRPr lang="en-IN"/>
          </a:p>
        </p:txBody>
      </p:sp>
      <p:sp>
        <p:nvSpPr>
          <p:cNvPr id="5" name="Footer Placeholder 4">
            <a:extLst>
              <a:ext uri="{FF2B5EF4-FFF2-40B4-BE49-F238E27FC236}">
                <a16:creationId xmlns:a16="http://schemas.microsoft.com/office/drawing/2014/main" id="{50C1A2C7-EA87-27A1-6B64-68C72437710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9108F8-9DDD-0FFF-1918-E0BE6D7F7397}"/>
              </a:ext>
            </a:extLst>
          </p:cNvPr>
          <p:cNvSpPr>
            <a:spLocks noGrp="1"/>
          </p:cNvSpPr>
          <p:nvPr>
            <p:ph type="sldNum" sz="quarter" idx="12"/>
          </p:nvPr>
        </p:nvSpPr>
        <p:spPr/>
        <p:txBody>
          <a:bodyPr/>
          <a:lstStyle/>
          <a:p>
            <a:fld id="{E836C513-5FCF-4BE2-B422-97353DA86077}" type="slidenum">
              <a:rPr lang="en-IN" smtClean="0"/>
              <a:t>‹#›</a:t>
            </a:fld>
            <a:endParaRPr lang="en-IN"/>
          </a:p>
        </p:txBody>
      </p:sp>
    </p:spTree>
    <p:extLst>
      <p:ext uri="{BB962C8B-B14F-4D97-AF65-F5344CB8AC3E}">
        <p14:creationId xmlns:p14="http://schemas.microsoft.com/office/powerpoint/2010/main" val="19314795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2BC57-1D8D-9F59-24F9-1E8232279959}"/>
              </a:ext>
            </a:extLst>
          </p:cNvPr>
          <p:cNvSpPr>
            <a:spLocks noGrp="1"/>
          </p:cNvSpPr>
          <p:nvPr>
            <p:ph type="title"/>
          </p:nvPr>
        </p:nvSpPr>
        <p:spPr>
          <a:xfrm>
            <a:off x="587829" y="507076"/>
            <a:ext cx="10515600" cy="1115434"/>
          </a:xfrm>
        </p:spPr>
        <p:txBody>
          <a:bodyPr/>
          <a:lstStyle>
            <a:lvl1pPr>
              <a:defRPr>
                <a:solidFill>
                  <a:schemeClr val="accent6"/>
                </a:solidFill>
              </a:defRPr>
            </a:lvl1pPr>
          </a:lstStyle>
          <a:p>
            <a:r>
              <a:rPr lang="en-US"/>
              <a:t>Click to edit Master title style</a:t>
            </a:r>
          </a:p>
        </p:txBody>
      </p:sp>
      <p:sp>
        <p:nvSpPr>
          <p:cNvPr id="11" name="Content placeholder 47">
            <a:extLst>
              <a:ext uri="{FF2B5EF4-FFF2-40B4-BE49-F238E27FC236}">
                <a16:creationId xmlns:a16="http://schemas.microsoft.com/office/drawing/2014/main" id="{561744A6-D3EA-42C3-8E71-3BB8BA1E6149}"/>
              </a:ext>
            </a:extLst>
          </p:cNvPr>
          <p:cNvSpPr>
            <a:spLocks noGrp="1"/>
          </p:cNvSpPr>
          <p:nvPr>
            <p:ph type="chart" sz="quarter" idx="27" hasCustomPrompt="1"/>
          </p:nvPr>
        </p:nvSpPr>
        <p:spPr>
          <a:xfrm>
            <a:off x="587829" y="1622510"/>
            <a:ext cx="10889796" cy="4155757"/>
          </a:xfrm>
          <a:prstGeom prst="rect">
            <a:avLst/>
          </a:prstGeom>
        </p:spPr>
        <p:txBody>
          <a:bodyPr/>
          <a:lstStyle>
            <a:lvl1pPr>
              <a:defRPr>
                <a:solidFill>
                  <a:schemeClr val="accent6"/>
                </a:solidFill>
              </a:defRPr>
            </a:lvl1pPr>
          </a:lstStyle>
          <a:p>
            <a:r>
              <a:rPr lang="en-US" altLang="zh-CN"/>
              <a:t>Click to edit master text style</a:t>
            </a:r>
            <a:endParaRPr lang="zh-CN" altLang="en-US"/>
          </a:p>
        </p:txBody>
      </p:sp>
      <p:sp>
        <p:nvSpPr>
          <p:cNvPr id="3" name="Footer Placeholder 2">
            <a:extLst>
              <a:ext uri="{FF2B5EF4-FFF2-40B4-BE49-F238E27FC236}">
                <a16:creationId xmlns:a16="http://schemas.microsoft.com/office/drawing/2014/main" id="{D1C82179-6F61-D1EC-D800-74B748B37F0E}"/>
              </a:ext>
            </a:extLst>
          </p:cNvPr>
          <p:cNvSpPr>
            <a:spLocks noGrp="1"/>
          </p:cNvSpPr>
          <p:nvPr>
            <p:ph type="ftr" sz="quarter" idx="28"/>
          </p:nvPr>
        </p:nvSpPr>
        <p:spPr/>
        <p:txBody>
          <a:bodyPr/>
          <a:lstStyle>
            <a:lvl1pPr>
              <a:defRPr>
                <a:solidFill>
                  <a:schemeClr val="accent6"/>
                </a:solidFill>
              </a:defRPr>
            </a:lvl1pPr>
          </a:lstStyle>
          <a:p>
            <a:r>
              <a:rPr lang="en-US"/>
              <a:t>Presentation title</a:t>
            </a:r>
          </a:p>
        </p:txBody>
      </p:sp>
      <p:sp>
        <p:nvSpPr>
          <p:cNvPr id="5" name="Slide Number Placeholder 4">
            <a:extLst>
              <a:ext uri="{FF2B5EF4-FFF2-40B4-BE49-F238E27FC236}">
                <a16:creationId xmlns:a16="http://schemas.microsoft.com/office/drawing/2014/main" id="{38803A51-0211-9F66-D20B-444BC94AA39E}"/>
              </a:ext>
            </a:extLst>
          </p:cNvPr>
          <p:cNvSpPr>
            <a:spLocks noGrp="1"/>
          </p:cNvSpPr>
          <p:nvPr>
            <p:ph type="sldNum" sz="quarter" idx="29"/>
          </p:nvPr>
        </p:nvSpPr>
        <p:spPr/>
        <p:txBody>
          <a:bodyPr/>
          <a:lstStyle>
            <a:lvl1pPr>
              <a:defRPr>
                <a:solidFill>
                  <a:schemeClr val="accent6"/>
                </a:solidFill>
              </a:defRPr>
            </a:lvl1pPr>
          </a:lstStyle>
          <a:p>
            <a:fld id="{47FEACEE-25B4-4A2D-B147-27296E36371D}" type="slidenum">
              <a:rPr lang="en-US" altLang="zh-CN" smtClean="0"/>
              <a:pPr/>
              <a:t>‹#›</a:t>
            </a:fld>
            <a:endParaRPr lang="en-US" altLang="zh-CN"/>
          </a:p>
        </p:txBody>
      </p:sp>
    </p:spTree>
    <p:extLst>
      <p:ext uri="{BB962C8B-B14F-4D97-AF65-F5344CB8AC3E}">
        <p14:creationId xmlns:p14="http://schemas.microsoft.com/office/powerpoint/2010/main" val="25213516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5 Column">
    <p:spTree>
      <p:nvGrpSpPr>
        <p:cNvPr id="1" name=""/>
        <p:cNvGrpSpPr/>
        <p:nvPr/>
      </p:nvGrpSpPr>
      <p:grpSpPr>
        <a:xfrm>
          <a:off x="0" y="0"/>
          <a:ext cx="0" cy="0"/>
          <a:chOff x="0" y="0"/>
          <a:chExt cx="0" cy="0"/>
        </a:xfrm>
      </p:grpSpPr>
      <p:sp>
        <p:nvSpPr>
          <p:cNvPr id="32" name="Content placeholder 47">
            <a:extLst>
              <a:ext uri="{FF2B5EF4-FFF2-40B4-BE49-F238E27FC236}">
                <a16:creationId xmlns:a16="http://schemas.microsoft.com/office/drawing/2014/main" id="{67FF6BA4-2B1B-4B51-9FE3-A67E3DCC3184}"/>
              </a:ext>
            </a:extLst>
          </p:cNvPr>
          <p:cNvSpPr>
            <a:spLocks noGrp="1"/>
          </p:cNvSpPr>
          <p:nvPr>
            <p:ph type="body" sz="quarter" idx="32" hasCustomPrompt="1"/>
          </p:nvPr>
        </p:nvSpPr>
        <p:spPr>
          <a:xfrm>
            <a:off x="838200"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a:t>Click to edit Master text styles </a:t>
            </a:r>
          </a:p>
        </p:txBody>
      </p:sp>
      <p:sp>
        <p:nvSpPr>
          <p:cNvPr id="30" name="Content placeholder 47">
            <a:extLst>
              <a:ext uri="{FF2B5EF4-FFF2-40B4-BE49-F238E27FC236}">
                <a16:creationId xmlns:a16="http://schemas.microsoft.com/office/drawing/2014/main" id="{88E2377A-ED6B-4D69-A9DC-647CB22A5204}"/>
              </a:ext>
            </a:extLst>
          </p:cNvPr>
          <p:cNvSpPr>
            <a:spLocks noGrp="1"/>
          </p:cNvSpPr>
          <p:nvPr>
            <p:ph type="body" sz="quarter" idx="50" hasCustomPrompt="1"/>
          </p:nvPr>
        </p:nvSpPr>
        <p:spPr>
          <a:xfrm>
            <a:off x="3000303" y="2929823"/>
            <a:ext cx="1867186" cy="2471878"/>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a:t>Click to edit Master text styles </a:t>
            </a:r>
          </a:p>
        </p:txBody>
      </p:sp>
      <p:sp>
        <p:nvSpPr>
          <p:cNvPr id="31" name="Content placeholder 47">
            <a:extLst>
              <a:ext uri="{FF2B5EF4-FFF2-40B4-BE49-F238E27FC236}">
                <a16:creationId xmlns:a16="http://schemas.microsoft.com/office/drawing/2014/main" id="{ECC27D7D-FA65-E93F-3C7E-AADBF7E0CC2C}"/>
              </a:ext>
            </a:extLst>
          </p:cNvPr>
          <p:cNvSpPr>
            <a:spLocks noGrp="1"/>
          </p:cNvSpPr>
          <p:nvPr>
            <p:ph type="body" sz="quarter" idx="51" hasCustomPrompt="1"/>
          </p:nvPr>
        </p:nvSpPr>
        <p:spPr>
          <a:xfrm>
            <a:off x="5164216"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a:t>Click to edit Master text styles </a:t>
            </a:r>
          </a:p>
        </p:txBody>
      </p:sp>
      <p:sp>
        <p:nvSpPr>
          <p:cNvPr id="33" name="Content placeholder 47">
            <a:extLst>
              <a:ext uri="{FF2B5EF4-FFF2-40B4-BE49-F238E27FC236}">
                <a16:creationId xmlns:a16="http://schemas.microsoft.com/office/drawing/2014/main" id="{DF5280E4-E86B-9E17-04A1-072A8148C3BD}"/>
              </a:ext>
            </a:extLst>
          </p:cNvPr>
          <p:cNvSpPr>
            <a:spLocks noGrp="1"/>
          </p:cNvSpPr>
          <p:nvPr>
            <p:ph type="body" sz="quarter" idx="52" hasCustomPrompt="1"/>
          </p:nvPr>
        </p:nvSpPr>
        <p:spPr>
          <a:xfrm>
            <a:off x="7326319"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a:t>Click to edit Master text styles </a:t>
            </a:r>
          </a:p>
        </p:txBody>
      </p:sp>
      <p:sp>
        <p:nvSpPr>
          <p:cNvPr id="37" name="Content placeholder 47">
            <a:extLst>
              <a:ext uri="{FF2B5EF4-FFF2-40B4-BE49-F238E27FC236}">
                <a16:creationId xmlns:a16="http://schemas.microsoft.com/office/drawing/2014/main" id="{42F4F0D3-AF64-7F92-FF1C-F5D1DC62A388}"/>
              </a:ext>
            </a:extLst>
          </p:cNvPr>
          <p:cNvSpPr>
            <a:spLocks noGrp="1"/>
          </p:cNvSpPr>
          <p:nvPr>
            <p:ph type="body" sz="quarter" idx="53" hasCustomPrompt="1"/>
          </p:nvPr>
        </p:nvSpPr>
        <p:spPr>
          <a:xfrm>
            <a:off x="9488424"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a:t>Click to edit Master text styles </a:t>
            </a:r>
          </a:p>
        </p:txBody>
      </p:sp>
      <p:sp>
        <p:nvSpPr>
          <p:cNvPr id="27" name="Content placeholder 47">
            <a:extLst>
              <a:ext uri="{FF2B5EF4-FFF2-40B4-BE49-F238E27FC236}">
                <a16:creationId xmlns:a16="http://schemas.microsoft.com/office/drawing/2014/main" id="{43D089D6-48B5-43AB-A887-EEF910BA9161}"/>
              </a:ext>
            </a:extLst>
          </p:cNvPr>
          <p:cNvSpPr>
            <a:spLocks noGrp="1"/>
          </p:cNvSpPr>
          <p:nvPr>
            <p:ph type="body" sz="quarter" idx="27" hasCustomPrompt="1"/>
          </p:nvPr>
        </p:nvSpPr>
        <p:spPr>
          <a:xfrm>
            <a:off x="838200"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a:t>Click to edit Master title style</a:t>
            </a:r>
            <a:endParaRPr lang="zh-CN" altLang="en-US"/>
          </a:p>
        </p:txBody>
      </p:sp>
      <p:sp>
        <p:nvSpPr>
          <p:cNvPr id="24" name="Title Placeholder 4">
            <a:extLst>
              <a:ext uri="{FF2B5EF4-FFF2-40B4-BE49-F238E27FC236}">
                <a16:creationId xmlns:a16="http://schemas.microsoft.com/office/drawing/2014/main" id="{69ABDED2-7EB3-3ABE-90D0-E6C00F806D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p>
        </p:txBody>
      </p:sp>
      <p:sp>
        <p:nvSpPr>
          <p:cNvPr id="25" name="Content placeholder 47">
            <a:extLst>
              <a:ext uri="{FF2B5EF4-FFF2-40B4-BE49-F238E27FC236}">
                <a16:creationId xmlns:a16="http://schemas.microsoft.com/office/drawing/2014/main" id="{476A31DC-7395-007C-8BA1-C38E5B289CF5}"/>
              </a:ext>
            </a:extLst>
          </p:cNvPr>
          <p:cNvSpPr>
            <a:spLocks noGrp="1"/>
          </p:cNvSpPr>
          <p:nvPr>
            <p:ph type="body" sz="quarter" idx="46" hasCustomPrompt="1"/>
          </p:nvPr>
        </p:nvSpPr>
        <p:spPr>
          <a:xfrm>
            <a:off x="3000756"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a:t>Click to edit Master title style</a:t>
            </a:r>
            <a:endParaRPr lang="zh-CN" altLang="en-US"/>
          </a:p>
        </p:txBody>
      </p:sp>
      <p:sp>
        <p:nvSpPr>
          <p:cNvPr id="26" name="Content placeholder 47">
            <a:extLst>
              <a:ext uri="{FF2B5EF4-FFF2-40B4-BE49-F238E27FC236}">
                <a16:creationId xmlns:a16="http://schemas.microsoft.com/office/drawing/2014/main" id="{35CE0786-D87B-DD89-C418-C53C1B7E610B}"/>
              </a:ext>
            </a:extLst>
          </p:cNvPr>
          <p:cNvSpPr>
            <a:spLocks noGrp="1"/>
          </p:cNvSpPr>
          <p:nvPr>
            <p:ph type="body" sz="quarter" idx="47" hasCustomPrompt="1"/>
          </p:nvPr>
        </p:nvSpPr>
        <p:spPr>
          <a:xfrm>
            <a:off x="5163312"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a:t>Click to edit Master title style</a:t>
            </a:r>
            <a:endParaRPr lang="zh-CN" altLang="en-US"/>
          </a:p>
        </p:txBody>
      </p:sp>
      <p:sp>
        <p:nvSpPr>
          <p:cNvPr id="28" name="Content placeholder 47">
            <a:extLst>
              <a:ext uri="{FF2B5EF4-FFF2-40B4-BE49-F238E27FC236}">
                <a16:creationId xmlns:a16="http://schemas.microsoft.com/office/drawing/2014/main" id="{7C7F2E6C-1DCD-3C6A-4830-5BF230A3AAB2}"/>
              </a:ext>
            </a:extLst>
          </p:cNvPr>
          <p:cNvSpPr>
            <a:spLocks noGrp="1"/>
          </p:cNvSpPr>
          <p:nvPr>
            <p:ph type="body" sz="quarter" idx="48" hasCustomPrompt="1"/>
          </p:nvPr>
        </p:nvSpPr>
        <p:spPr>
          <a:xfrm>
            <a:off x="7325868"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a:t>Click to edit Master title style</a:t>
            </a:r>
            <a:endParaRPr lang="zh-CN" altLang="en-US"/>
          </a:p>
        </p:txBody>
      </p:sp>
      <p:sp>
        <p:nvSpPr>
          <p:cNvPr id="29" name="Content placeholder 47">
            <a:extLst>
              <a:ext uri="{FF2B5EF4-FFF2-40B4-BE49-F238E27FC236}">
                <a16:creationId xmlns:a16="http://schemas.microsoft.com/office/drawing/2014/main" id="{56A87F6E-D6C5-8903-BC20-313810046034}"/>
              </a:ext>
            </a:extLst>
          </p:cNvPr>
          <p:cNvSpPr>
            <a:spLocks noGrp="1"/>
          </p:cNvSpPr>
          <p:nvPr>
            <p:ph type="body" sz="quarter" idx="49" hasCustomPrompt="1"/>
          </p:nvPr>
        </p:nvSpPr>
        <p:spPr>
          <a:xfrm>
            <a:off x="9488424"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a:t>Click to edit Master title style</a:t>
            </a:r>
            <a:endParaRPr lang="zh-CN" altLang="en-US"/>
          </a:p>
        </p:txBody>
      </p:sp>
      <p:sp>
        <p:nvSpPr>
          <p:cNvPr id="11" name="Footer Placeholder 10">
            <a:extLst>
              <a:ext uri="{FF2B5EF4-FFF2-40B4-BE49-F238E27FC236}">
                <a16:creationId xmlns:a16="http://schemas.microsoft.com/office/drawing/2014/main" id="{7218367E-FDD8-A1F8-8E0F-A365771B85F7}"/>
              </a:ext>
            </a:extLst>
          </p:cNvPr>
          <p:cNvSpPr>
            <a:spLocks noGrp="1"/>
          </p:cNvSpPr>
          <p:nvPr>
            <p:ph type="ftr" sz="quarter" idx="54"/>
          </p:nvPr>
        </p:nvSpPr>
        <p:spPr/>
        <p:txBody>
          <a:bodyPr>
            <a:noAutofit/>
          </a:bodyPr>
          <a:lstStyle/>
          <a:p>
            <a:r>
              <a:rPr lang="en-US" noProof="0"/>
              <a:t>Presentation title</a:t>
            </a:r>
          </a:p>
        </p:txBody>
      </p:sp>
      <p:sp>
        <p:nvSpPr>
          <p:cNvPr id="12" name="Slide Number Placeholder 11">
            <a:extLst>
              <a:ext uri="{FF2B5EF4-FFF2-40B4-BE49-F238E27FC236}">
                <a16:creationId xmlns:a16="http://schemas.microsoft.com/office/drawing/2014/main" id="{77ECE300-0AB8-85A0-D4D3-B948DDA7B00F}"/>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a:p>
        </p:txBody>
      </p:sp>
    </p:spTree>
    <p:extLst>
      <p:ext uri="{BB962C8B-B14F-4D97-AF65-F5344CB8AC3E}">
        <p14:creationId xmlns:p14="http://schemas.microsoft.com/office/powerpoint/2010/main" val="161552962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itle and Content with design">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05751864-B11A-0286-13EA-2AC2A2C8DD5D}"/>
              </a:ext>
            </a:extLst>
          </p:cNvPr>
          <p:cNvSpPr>
            <a:spLocks noGrp="1"/>
          </p:cNvSpPr>
          <p:nvPr>
            <p:ph type="title"/>
          </p:nvPr>
        </p:nvSpPr>
        <p:spPr>
          <a:xfrm>
            <a:off x="581709" y="721538"/>
            <a:ext cx="10889796" cy="1418998"/>
          </a:xfrm>
          <a:prstGeom prst="rect">
            <a:avLst/>
          </a:prstGeom>
        </p:spPr>
        <p:txBody>
          <a:bodyPr vert="horz" lIns="91440" tIns="45720" rIns="91440" bIns="45720" rtlCol="0" anchor="t">
            <a:noAutofit/>
          </a:bodyPr>
          <a:lstStyle>
            <a:lvl1pPr>
              <a:defRPr>
                <a:solidFill>
                  <a:schemeClr val="accent6"/>
                </a:solidFill>
              </a:defRPr>
            </a:lvl1pPr>
          </a:lstStyle>
          <a:p>
            <a:r>
              <a:rPr lang="en-US"/>
              <a:t>Click to edit Master title style</a:t>
            </a:r>
          </a:p>
        </p:txBody>
      </p:sp>
      <p:sp>
        <p:nvSpPr>
          <p:cNvPr id="10" name="Table placeholder">
            <a:extLst>
              <a:ext uri="{FF2B5EF4-FFF2-40B4-BE49-F238E27FC236}">
                <a16:creationId xmlns:a16="http://schemas.microsoft.com/office/drawing/2014/main" id="{CFC5FF09-DE50-4155-81A0-5DD9B700F205}"/>
              </a:ext>
            </a:extLst>
          </p:cNvPr>
          <p:cNvSpPr>
            <a:spLocks noGrp="1"/>
          </p:cNvSpPr>
          <p:nvPr>
            <p:ph type="tbl" sz="quarter" idx="27" hasCustomPrompt="1"/>
          </p:nvPr>
        </p:nvSpPr>
        <p:spPr>
          <a:xfrm>
            <a:off x="581709" y="1614198"/>
            <a:ext cx="10889796" cy="4317856"/>
          </a:xfrm>
          <a:prstGeom prst="rect">
            <a:avLst/>
          </a:prstGeom>
        </p:spPr>
        <p:txBody>
          <a:bodyPr>
            <a:noAutofit/>
          </a:bodyPr>
          <a:lstStyle>
            <a:lvl1pPr>
              <a:defRPr>
                <a:solidFill>
                  <a:schemeClr val="accent6"/>
                </a:solidFill>
              </a:defRPr>
            </a:lvl1pPr>
          </a:lstStyle>
          <a:p>
            <a:r>
              <a:rPr lang="en-US" altLang="zh-CN"/>
              <a:t>Click to edit master text style</a:t>
            </a:r>
            <a:endParaRPr lang="zh-CN" altLang="en-US"/>
          </a:p>
        </p:txBody>
      </p:sp>
      <p:sp>
        <p:nvSpPr>
          <p:cNvPr id="9" name="Freeform: Shape 5">
            <a:extLst>
              <a:ext uri="{FF2B5EF4-FFF2-40B4-BE49-F238E27FC236}">
                <a16:creationId xmlns:a16="http://schemas.microsoft.com/office/drawing/2014/main"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chemeClr val="accent6"/>
              </a:solidFill>
            </a:endParaRPr>
          </a:p>
        </p:txBody>
      </p:sp>
      <p:sp>
        <p:nvSpPr>
          <p:cNvPr id="12" name="Freeform 11">
            <a:extLst>
              <a:ext uri="{FF2B5EF4-FFF2-40B4-BE49-F238E27FC236}">
                <a16:creationId xmlns:a16="http://schemas.microsoft.com/office/drawing/2014/main"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accent6"/>
              </a:solidFill>
            </a:endParaRPr>
          </a:p>
        </p:txBody>
      </p:sp>
      <p:sp>
        <p:nvSpPr>
          <p:cNvPr id="13" name="Freeform: Shape 11">
            <a:extLst>
              <a:ext uri="{FF2B5EF4-FFF2-40B4-BE49-F238E27FC236}">
                <a16:creationId xmlns:a16="http://schemas.microsoft.com/office/drawing/2014/main"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60000"/>
              <a:lumOff val="4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accent6"/>
              </a:solidFill>
              <a:effectLst/>
              <a:uLnTx/>
              <a:uFillTx/>
              <a:latin typeface="Posterama Text SemiBold"/>
              <a:ea typeface="+mn-ea"/>
              <a:cs typeface="+mn-cs"/>
            </a:endParaRPr>
          </a:p>
        </p:txBody>
      </p:sp>
      <p:sp>
        <p:nvSpPr>
          <p:cNvPr id="2" name="Footer Placeholder 1">
            <a:extLst>
              <a:ext uri="{FF2B5EF4-FFF2-40B4-BE49-F238E27FC236}">
                <a16:creationId xmlns:a16="http://schemas.microsoft.com/office/drawing/2014/main" id="{5F7A154B-D8F5-C1FB-307D-496380875BD1}"/>
              </a:ext>
            </a:extLst>
          </p:cNvPr>
          <p:cNvSpPr>
            <a:spLocks noGrp="1"/>
          </p:cNvSpPr>
          <p:nvPr>
            <p:ph type="ftr" sz="quarter" idx="28"/>
          </p:nvPr>
        </p:nvSpPr>
        <p:spPr/>
        <p:txBody>
          <a:bodyPr>
            <a:noAutofit/>
          </a:bodyPr>
          <a:lstStyle>
            <a:lvl1pPr>
              <a:defRPr>
                <a:solidFill>
                  <a:schemeClr val="accent6"/>
                </a:solidFill>
              </a:defRPr>
            </a:lvl1pPr>
          </a:lstStyle>
          <a:p>
            <a:r>
              <a:rPr lang="en-US"/>
              <a:t>Presentation title</a:t>
            </a:r>
          </a:p>
        </p:txBody>
      </p:sp>
      <p:sp>
        <p:nvSpPr>
          <p:cNvPr id="5" name="Slide Number Placeholder 4">
            <a:extLst>
              <a:ext uri="{FF2B5EF4-FFF2-40B4-BE49-F238E27FC236}">
                <a16:creationId xmlns:a16="http://schemas.microsoft.com/office/drawing/2014/main" id="{D728715E-D2CE-A33E-1A28-4E627F239BBE}"/>
              </a:ext>
            </a:extLst>
          </p:cNvPr>
          <p:cNvSpPr>
            <a:spLocks noGrp="1"/>
          </p:cNvSpPr>
          <p:nvPr>
            <p:ph type="sldNum" sz="quarter" idx="29"/>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a:p>
        </p:txBody>
      </p:sp>
    </p:spTree>
    <p:extLst>
      <p:ext uri="{BB962C8B-B14F-4D97-AF65-F5344CB8AC3E}">
        <p14:creationId xmlns:p14="http://schemas.microsoft.com/office/powerpoint/2010/main" val="23741446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3">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B99738AB-B266-406D-9C2E-97966294887E}" type="datetimeFigureOut">
              <a:rPr lang="en-IN" smtClean="0"/>
              <a:t>15-09-2026</a:t>
            </a:fld>
            <a:endParaRPr lang="en-IN"/>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IN"/>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E836C513-5FCF-4BE2-B422-97353DA86077}" type="slidenum">
              <a:rPr lang="en-IN" smtClean="0"/>
              <a:t>‹#›</a:t>
            </a:fld>
            <a:endParaRPr lang="en-IN"/>
          </a:p>
        </p:txBody>
      </p:sp>
    </p:spTree>
    <p:extLst>
      <p:ext uri="{BB962C8B-B14F-4D97-AF65-F5344CB8AC3E}">
        <p14:creationId xmlns:p14="http://schemas.microsoft.com/office/powerpoint/2010/main" val="45657355"/>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 id="2147483678" r:id="rId15"/>
    <p:sldLayoutId id="2147483679" r:id="rId16"/>
    <p:sldLayoutId id="2147483680" r:id="rId17"/>
    <p:sldLayoutId id="2147483681" r:id="rId18"/>
    <p:sldLayoutId id="2147483682" r:id="rId19"/>
    <p:sldLayoutId id="2147483683" r:id="rId20"/>
    <p:sldLayoutId id="2147483684" r:id="rId21"/>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2"/>
        <p:cNvGrpSpPr/>
        <p:nvPr/>
      </p:nvGrpSpPr>
      <p:grpSpPr>
        <a:xfrm>
          <a:off x="0" y="0"/>
          <a:ext cx="0" cy="0"/>
          <a:chOff x="0" y="0"/>
          <a:chExt cx="0" cy="0"/>
        </a:xfrm>
      </p:grpSpPr>
      <p:sp>
        <p:nvSpPr>
          <p:cNvPr id="53" name="Google Shape;53;p2"/>
          <p:cNvSpPr txBox="1"/>
          <p:nvPr/>
        </p:nvSpPr>
        <p:spPr>
          <a:xfrm>
            <a:off x="228131" y="928487"/>
            <a:ext cx="10453600" cy="1933822"/>
          </a:xfrm>
          <a:prstGeom prst="rect">
            <a:avLst/>
          </a:prstGeom>
          <a:noFill/>
          <a:ln>
            <a:noFill/>
          </a:ln>
        </p:spPr>
        <p:txBody>
          <a:bodyPr spcFirstLastPara="1" wrap="square" lIns="121900" tIns="121900" rIns="121900" bIns="121900" anchor="t" anchorCtr="0">
            <a:spAutoFit/>
          </a:bodyPr>
          <a:lstStyle/>
          <a:p>
            <a:pPr marL="609585" indent="609585" algn="ctr">
              <a:spcBef>
                <a:spcPts val="1333"/>
              </a:spcBef>
              <a:buClr>
                <a:schemeClr val="dk1"/>
              </a:buClr>
              <a:buSzPts val="1100"/>
            </a:pPr>
            <a:r>
              <a:rPr lang="en-GB" sz="4400" b="1" dirty="0">
                <a:solidFill>
                  <a:schemeClr val="dk1"/>
                </a:solidFill>
                <a:ea typeface="Lato"/>
                <a:cs typeface="Lato"/>
                <a:sym typeface="Lato"/>
              </a:rPr>
              <a:t>IT Ticket Analysis</a:t>
            </a:r>
          </a:p>
          <a:p>
            <a:pPr marL="609585" indent="609585" algn="ctr">
              <a:spcBef>
                <a:spcPts val="1333"/>
              </a:spcBef>
              <a:buClr>
                <a:schemeClr val="dk1"/>
              </a:buClr>
              <a:buSzPts val="1100"/>
            </a:pPr>
            <a:r>
              <a:rPr lang="en-GB" sz="4400" b="1" dirty="0">
                <a:solidFill>
                  <a:schemeClr val="dk1"/>
                </a:solidFill>
                <a:ea typeface="Lato"/>
                <a:cs typeface="Lato"/>
                <a:sym typeface="Lato"/>
              </a:rPr>
              <a:t>                                     -Vijay Ekka</a:t>
            </a:r>
            <a:endParaRPr sz="4400" b="1" dirty="0">
              <a:solidFill>
                <a:srgbClr val="000000"/>
              </a:solidFill>
              <a:ea typeface="Lato"/>
              <a:cs typeface="Lato"/>
              <a:sym typeface="Lato"/>
            </a:endParaRPr>
          </a:p>
        </p:txBody>
      </p:sp>
      <p:pic>
        <p:nvPicPr>
          <p:cNvPr id="3" name="Graphic 2">
            <a:extLst>
              <a:ext uri="{FF2B5EF4-FFF2-40B4-BE49-F238E27FC236}">
                <a16:creationId xmlns:a16="http://schemas.microsoft.com/office/drawing/2014/main" id="{5929039E-C149-32B6-C02A-64C24640A33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159538" y="2243944"/>
            <a:ext cx="4285283" cy="428528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6" name="Google Shape;66;p4"/>
          <p:cNvSpPr txBox="1"/>
          <p:nvPr/>
        </p:nvSpPr>
        <p:spPr>
          <a:xfrm>
            <a:off x="991893" y="519766"/>
            <a:ext cx="10473200" cy="2646838"/>
          </a:xfrm>
          <a:prstGeom prst="rect">
            <a:avLst/>
          </a:prstGeom>
          <a:noFill/>
          <a:ln>
            <a:noFill/>
          </a:ln>
        </p:spPr>
        <p:txBody>
          <a:bodyPr spcFirstLastPara="1" wrap="square" lIns="121900" tIns="121900" rIns="121900" bIns="121900" anchor="t" anchorCtr="0">
            <a:spAutoFit/>
          </a:bodyPr>
          <a:lstStyle/>
          <a:p>
            <a:pPr>
              <a:lnSpc>
                <a:spcPct val="150000"/>
              </a:lnSpc>
              <a:buClr>
                <a:srgbClr val="000000"/>
              </a:buClr>
              <a:buSzPts val="1800"/>
            </a:pPr>
            <a:r>
              <a:rPr lang="en-US" sz="2400" b="1" dirty="0">
                <a:solidFill>
                  <a:srgbClr val="000000"/>
                </a:solidFill>
                <a:ea typeface="Lato"/>
                <a:cs typeface="Lato"/>
                <a:sym typeface="Lato"/>
              </a:rPr>
              <a:t>Problem Statement</a:t>
            </a:r>
            <a:endParaRPr lang="en-US" sz="2400" dirty="0">
              <a:solidFill>
                <a:srgbClr val="000000"/>
              </a:solidFill>
              <a:ea typeface="Lato"/>
              <a:cs typeface="Lato"/>
              <a:sym typeface="Lato"/>
            </a:endParaRPr>
          </a:p>
          <a:p>
            <a:pPr>
              <a:buClr>
                <a:srgbClr val="000000"/>
              </a:buClr>
              <a:buSzPts val="1800"/>
            </a:pPr>
            <a:r>
              <a:rPr lang="en-US" sz="2000" dirty="0">
                <a:ea typeface="Lato"/>
                <a:cs typeface="Lato"/>
                <a:sym typeface="Lato"/>
              </a:rPr>
              <a:t>The objective is to analyze the IT support ticket management system to understand the performance of IT agents, the efficiency of ticket resolution, and the satisfaction levels of employees. The analysis aims to identify high and low performers among IT agents, assess the overall effectiveness of the team, and pinpoint areas for improvement in the ticket resolution process. The ultimate goal is to make informed staffing decisions, including hiring, firing, and training, to enhance overall service quality and team performance.</a:t>
            </a:r>
            <a:endParaRPr lang="en-US" sz="2000" dirty="0">
              <a:solidFill>
                <a:srgbClr val="000000"/>
              </a:solidFill>
              <a:ea typeface="Lato"/>
              <a:cs typeface="Lato"/>
              <a:sym typeface="Lato"/>
            </a:endParaRPr>
          </a:p>
        </p:txBody>
      </p:sp>
      <p:pic>
        <p:nvPicPr>
          <p:cNvPr id="3" name="Picture 2">
            <a:extLst>
              <a:ext uri="{FF2B5EF4-FFF2-40B4-BE49-F238E27FC236}">
                <a16:creationId xmlns:a16="http://schemas.microsoft.com/office/drawing/2014/main" id="{0047893B-E54C-8DF5-DC06-F9364EDB08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3221" y="3302778"/>
            <a:ext cx="10170544" cy="303545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3FEB5F0-95DA-5AB1-137F-C1CD1643F263}"/>
              </a:ext>
            </a:extLst>
          </p:cNvPr>
          <p:cNvSpPr txBox="1"/>
          <p:nvPr/>
        </p:nvSpPr>
        <p:spPr>
          <a:xfrm>
            <a:off x="757080" y="1235273"/>
            <a:ext cx="10910808" cy="5016758"/>
          </a:xfrm>
          <a:prstGeom prst="rect">
            <a:avLst/>
          </a:prstGeom>
          <a:noFill/>
        </p:spPr>
        <p:txBody>
          <a:bodyPr wrap="square">
            <a:spAutoFit/>
          </a:bodyPr>
          <a:lstStyle/>
          <a:p>
            <a:pPr marL="380990" indent="-380990">
              <a:buFont typeface="Arial" panose="020B0604020202020204" pitchFamily="34" charset="0"/>
              <a:buChar char="•"/>
            </a:pPr>
            <a:r>
              <a:rPr lang="en-US" sz="2000" dirty="0"/>
              <a:t>This analysis is based on a dataset of </a:t>
            </a:r>
            <a:r>
              <a:rPr lang="en-US" sz="2000" b="1" dirty="0"/>
              <a:t>97,498</a:t>
            </a:r>
            <a:r>
              <a:rPr lang="en-US" sz="2000" dirty="0"/>
              <a:t> IT support tickets, sourced from an internal service management system, to evaluate help desk performance and identify key trends.</a:t>
            </a:r>
          </a:p>
          <a:p>
            <a:endParaRPr lang="en-US" sz="2000" dirty="0"/>
          </a:p>
          <a:p>
            <a:pPr marL="380990" indent="-380990">
              <a:buFont typeface="Arial" panose="020B0604020202020204" pitchFamily="34" charset="0"/>
              <a:buChar char="•"/>
            </a:pPr>
            <a:r>
              <a:rPr lang="en-US" sz="2000" dirty="0"/>
              <a:t>The data is structured into two main files: a Tickets Sheet that tracks every detail of support requests and an IT Agents Sheet with information about the support personnel.</a:t>
            </a:r>
          </a:p>
          <a:p>
            <a:endParaRPr lang="en-US" sz="2000" dirty="0"/>
          </a:p>
          <a:p>
            <a:pPr marL="380990" indent="-380990">
              <a:buFont typeface="Arial" panose="020B0604020202020204" pitchFamily="34" charset="0"/>
              <a:buChar char="•"/>
            </a:pPr>
            <a:r>
              <a:rPr lang="en-US" sz="2000" dirty="0"/>
              <a:t>Key performance indicators (KPIs) for this analysis include Resolution Time, which averages</a:t>
            </a:r>
            <a:r>
              <a:rPr lang="en-US" sz="2000" b="1" dirty="0"/>
              <a:t> 5 </a:t>
            </a:r>
            <a:r>
              <a:rPr lang="en-US" sz="2000" dirty="0"/>
              <a:t>days, and Employee Satisfaction, which is measured on a 1-to-5 scale.</a:t>
            </a:r>
          </a:p>
          <a:p>
            <a:endParaRPr lang="en-US" sz="2000" dirty="0"/>
          </a:p>
          <a:p>
            <a:pPr marL="380990" indent="-380990">
              <a:buFont typeface="Arial" panose="020B0604020202020204" pitchFamily="34" charset="0"/>
              <a:buChar char="•"/>
            </a:pPr>
            <a:r>
              <a:rPr lang="en-US" sz="2000" dirty="0"/>
              <a:t>The IT help desk manages a consistent workload, handling an average of </a:t>
            </a:r>
            <a:r>
              <a:rPr lang="en-US" sz="2000" b="1" dirty="0"/>
              <a:t>53</a:t>
            </a:r>
            <a:r>
              <a:rPr lang="en-US" sz="2000" dirty="0"/>
              <a:t> new tickets each day.</a:t>
            </a:r>
          </a:p>
          <a:p>
            <a:endParaRPr lang="en-US" sz="2000" dirty="0"/>
          </a:p>
          <a:p>
            <a:pPr marL="380990" indent="-380990">
              <a:buFont typeface="Arial" panose="020B0604020202020204" pitchFamily="34" charset="0"/>
              <a:buChar char="•"/>
            </a:pPr>
            <a:r>
              <a:rPr lang="en-US" sz="2000" dirty="0"/>
              <a:t>Each ticket is categorized by Request Category (like Login Access or System), Issue Type, Severity, and Priority, allowing for a detailed breakdown of support needs.</a:t>
            </a:r>
          </a:p>
          <a:p>
            <a:endParaRPr lang="en-US" sz="2000" dirty="0"/>
          </a:p>
          <a:p>
            <a:pPr marL="380990" indent="-380990">
              <a:buFont typeface="Arial" panose="020B0604020202020204" pitchFamily="34" charset="0"/>
              <a:buChar char="•"/>
            </a:pPr>
            <a:r>
              <a:rPr lang="en-US" sz="2000" dirty="0"/>
              <a:t>By linking the ticket data with the agent data using the Agent ID, we can analyze performance metrics in relation to specific agents and agent demographics.</a:t>
            </a:r>
          </a:p>
        </p:txBody>
      </p:sp>
      <p:sp>
        <p:nvSpPr>
          <p:cNvPr id="4" name="TextBox 3">
            <a:extLst>
              <a:ext uri="{FF2B5EF4-FFF2-40B4-BE49-F238E27FC236}">
                <a16:creationId xmlns:a16="http://schemas.microsoft.com/office/drawing/2014/main" id="{0AED81E3-3989-085F-1BAD-476A1D4413A0}"/>
              </a:ext>
            </a:extLst>
          </p:cNvPr>
          <p:cNvSpPr txBox="1"/>
          <p:nvPr/>
        </p:nvSpPr>
        <p:spPr>
          <a:xfrm>
            <a:off x="4980993" y="393554"/>
            <a:ext cx="2138662" cy="461665"/>
          </a:xfrm>
          <a:prstGeom prst="rect">
            <a:avLst/>
          </a:prstGeom>
          <a:noFill/>
        </p:spPr>
        <p:txBody>
          <a:bodyPr wrap="none" rtlCol="0">
            <a:spAutoFit/>
          </a:bodyPr>
          <a:lstStyle/>
          <a:p>
            <a:r>
              <a:rPr lang="en-IN" sz="2400" b="1" dirty="0"/>
              <a:t>Data Overview</a:t>
            </a:r>
          </a:p>
        </p:txBody>
      </p:sp>
    </p:spTree>
    <p:extLst>
      <p:ext uri="{BB962C8B-B14F-4D97-AF65-F5344CB8AC3E}">
        <p14:creationId xmlns:p14="http://schemas.microsoft.com/office/powerpoint/2010/main" val="18168579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BD09E-4C43-B489-F1B3-F463D2DC484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6F4974-EB3E-7C1E-7A94-EA45001FA2A6}"/>
              </a:ext>
            </a:extLst>
          </p:cNvPr>
          <p:cNvSpPr>
            <a:spLocks noGrp="1"/>
          </p:cNvSpPr>
          <p:nvPr>
            <p:ph idx="1"/>
          </p:nvPr>
        </p:nvSpPr>
        <p:spPr>
          <a:xfrm>
            <a:off x="913774" y="1288791"/>
            <a:ext cx="10364452" cy="3424107"/>
          </a:xfrm>
        </p:spPr>
        <p:txBody>
          <a:bodyPr>
            <a:noAutofit/>
          </a:bodyPr>
          <a:lstStyle/>
          <a:p>
            <a:pPr marL="285750" indent="-285750"/>
            <a:r>
              <a:rPr lang="en-US" dirty="0"/>
              <a:t>The dataset consists of IT support ticket records collected over multiple years. (2016-2020)</a:t>
            </a:r>
          </a:p>
          <a:p>
            <a:pPr marL="285750" indent="-285750"/>
            <a:endParaRPr lang="en-US" dirty="0"/>
          </a:p>
          <a:p>
            <a:pPr marL="285750" indent="-285750"/>
            <a:r>
              <a:rPr lang="en-US" b="1" dirty="0"/>
              <a:t>It includes two datasets: </a:t>
            </a:r>
          </a:p>
          <a:p>
            <a:r>
              <a:rPr lang="en-US" b="1" dirty="0"/>
              <a:t>      Ticket Data </a:t>
            </a:r>
            <a:r>
              <a:rPr lang="en-US" dirty="0"/>
              <a:t>(ticket details, severity, priority, resolution time, satisfaction score)</a:t>
            </a:r>
          </a:p>
          <a:p>
            <a:endParaRPr lang="en-US" dirty="0"/>
          </a:p>
          <a:p>
            <a:r>
              <a:rPr lang="en-US" b="1" dirty="0"/>
              <a:t>      IT Agent Data</a:t>
            </a:r>
            <a:r>
              <a:rPr lang="en-US" dirty="0"/>
              <a:t> (agent ID, name and demographic details)</a:t>
            </a:r>
          </a:p>
          <a:p>
            <a:endParaRPr lang="en-US" dirty="0"/>
          </a:p>
          <a:p>
            <a:pPr marL="285750" indent="-285750"/>
            <a:r>
              <a:rPr lang="en-US" dirty="0"/>
              <a:t>In total, the dataset contains </a:t>
            </a:r>
            <a:r>
              <a:rPr lang="en-US" b="1" dirty="0"/>
              <a:t>16 original attributes </a:t>
            </a:r>
            <a:r>
              <a:rPr lang="en-US" dirty="0"/>
              <a:t>and covers approximately 97,000+ ticket records handled by 50 IT agents.</a:t>
            </a:r>
          </a:p>
          <a:p>
            <a:endParaRPr lang="en-IN" dirty="0"/>
          </a:p>
        </p:txBody>
      </p:sp>
      <p:sp>
        <p:nvSpPr>
          <p:cNvPr id="5" name="TextBox 4">
            <a:extLst>
              <a:ext uri="{FF2B5EF4-FFF2-40B4-BE49-F238E27FC236}">
                <a16:creationId xmlns:a16="http://schemas.microsoft.com/office/drawing/2014/main" id="{D0F89E93-F573-85CE-D524-4F08B56DB1FE}"/>
              </a:ext>
            </a:extLst>
          </p:cNvPr>
          <p:cNvSpPr txBox="1"/>
          <p:nvPr/>
        </p:nvSpPr>
        <p:spPr>
          <a:xfrm>
            <a:off x="8315864" y="405442"/>
            <a:ext cx="3424687" cy="369332"/>
          </a:xfrm>
          <a:prstGeom prst="rect">
            <a:avLst/>
          </a:prstGeom>
          <a:noFill/>
        </p:spPr>
        <p:txBody>
          <a:bodyPr wrap="square" rtlCol="0">
            <a:spAutoFit/>
          </a:bodyPr>
          <a:lstStyle/>
          <a:p>
            <a:r>
              <a:rPr lang="en-US">
                <a:solidFill>
                  <a:schemeClr val="bg1"/>
                </a:solidFill>
              </a:rPr>
              <a:t>DATASET SUMMARY</a:t>
            </a:r>
            <a:endParaRPr lang="en-IN" dirty="0"/>
          </a:p>
        </p:txBody>
      </p:sp>
      <p:sp>
        <p:nvSpPr>
          <p:cNvPr id="7" name="Title 6">
            <a:extLst>
              <a:ext uri="{FF2B5EF4-FFF2-40B4-BE49-F238E27FC236}">
                <a16:creationId xmlns:a16="http://schemas.microsoft.com/office/drawing/2014/main" id="{78F0C001-6C55-5DC8-0B7B-F3F8F71B44ED}"/>
              </a:ext>
            </a:extLst>
          </p:cNvPr>
          <p:cNvSpPr>
            <a:spLocks noGrp="1"/>
          </p:cNvSpPr>
          <p:nvPr>
            <p:ph type="title"/>
          </p:nvPr>
        </p:nvSpPr>
        <p:spPr>
          <a:xfrm>
            <a:off x="913776" y="0"/>
            <a:ext cx="10364451" cy="1596177"/>
          </a:xfrm>
        </p:spPr>
        <p:txBody>
          <a:bodyPr>
            <a:normAutofit/>
          </a:bodyPr>
          <a:lstStyle/>
          <a:p>
            <a:r>
              <a:rPr lang="en-US" sz="2400" b="1" dirty="0">
                <a:solidFill>
                  <a:schemeClr val="bg1"/>
                </a:solidFill>
              </a:rPr>
              <a:t>D</a:t>
            </a:r>
            <a:r>
              <a:rPr lang="en-US" sz="2400" b="1" dirty="0">
                <a:solidFill>
                  <a:srgbClr val="000000"/>
                </a:solidFill>
              </a:rPr>
              <a:t>DATA SUMMARY</a:t>
            </a:r>
            <a:br>
              <a:rPr lang="en-US" sz="2400" b="1" dirty="0">
                <a:solidFill>
                  <a:schemeClr val="bg1"/>
                </a:solidFill>
                <a:highlight>
                  <a:srgbClr val="000000"/>
                </a:highlight>
              </a:rPr>
            </a:br>
            <a:r>
              <a:rPr lang="en-US" sz="2400" dirty="0">
                <a:solidFill>
                  <a:schemeClr val="bg1"/>
                </a:solidFill>
              </a:rPr>
              <a:t>UMMARYDADA</a:t>
            </a:r>
            <a:endParaRPr lang="en-IN" sz="2400" dirty="0"/>
          </a:p>
        </p:txBody>
      </p:sp>
    </p:spTree>
    <p:extLst>
      <p:ext uri="{BB962C8B-B14F-4D97-AF65-F5344CB8AC3E}">
        <p14:creationId xmlns:p14="http://schemas.microsoft.com/office/powerpoint/2010/main" val="2573860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D7C62-7F6A-594E-8F4B-16BC7B8045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F23A43-9979-2443-C2EC-CB5ADA1199E7}"/>
              </a:ext>
            </a:extLst>
          </p:cNvPr>
          <p:cNvSpPr>
            <a:spLocks noGrp="1"/>
          </p:cNvSpPr>
          <p:nvPr>
            <p:ph type="title"/>
          </p:nvPr>
        </p:nvSpPr>
        <p:spPr>
          <a:xfrm>
            <a:off x="913776" y="0"/>
            <a:ext cx="10364451" cy="1596177"/>
          </a:xfrm>
        </p:spPr>
        <p:txBody>
          <a:bodyPr>
            <a:normAutofit/>
          </a:bodyPr>
          <a:lstStyle/>
          <a:p>
            <a:r>
              <a:rPr lang="en-US" sz="2400" b="1" dirty="0"/>
              <a:t>DATA CLEANING &amp; PRE-PROCESSING</a:t>
            </a:r>
            <a:br>
              <a:rPr lang="en-US" sz="2400" dirty="0"/>
            </a:br>
            <a:endParaRPr lang="en-IN" sz="2400" dirty="0"/>
          </a:p>
        </p:txBody>
      </p:sp>
      <p:sp>
        <p:nvSpPr>
          <p:cNvPr id="3" name="Content Placeholder 2">
            <a:extLst>
              <a:ext uri="{FF2B5EF4-FFF2-40B4-BE49-F238E27FC236}">
                <a16:creationId xmlns:a16="http://schemas.microsoft.com/office/drawing/2014/main" id="{60A42559-7F1F-8AE9-4537-95E26855161C}"/>
              </a:ext>
            </a:extLst>
          </p:cNvPr>
          <p:cNvSpPr>
            <a:spLocks noGrp="1"/>
          </p:cNvSpPr>
          <p:nvPr>
            <p:ph idx="1"/>
          </p:nvPr>
        </p:nvSpPr>
        <p:spPr>
          <a:xfrm>
            <a:off x="913776" y="2203191"/>
            <a:ext cx="10364452" cy="3424107"/>
          </a:xfrm>
        </p:spPr>
        <p:txBody>
          <a:bodyPr/>
          <a:lstStyle/>
          <a:p>
            <a:r>
              <a:rPr lang="en-US" b="1" u="sng" dirty="0"/>
              <a:t>STEP 1</a:t>
            </a:r>
            <a:r>
              <a:rPr lang="en-US" b="1" dirty="0"/>
              <a:t> : </a:t>
            </a:r>
            <a:r>
              <a:rPr lang="en-US" b="1" u="sng" dirty="0"/>
              <a:t>Handling Missing Values</a:t>
            </a:r>
          </a:p>
          <a:p>
            <a:r>
              <a:rPr lang="en-US" dirty="0"/>
              <a:t>Verified missing values using filters across all columns; </a:t>
            </a:r>
            <a:r>
              <a:rPr lang="en-US" b="1" dirty="0"/>
              <a:t>no blank records </a:t>
            </a:r>
            <a:r>
              <a:rPr lang="en-US" dirty="0"/>
              <a:t>were found.</a:t>
            </a:r>
          </a:p>
          <a:p>
            <a:endParaRPr lang="en-US" dirty="0"/>
          </a:p>
          <a:p>
            <a:r>
              <a:rPr lang="en-US" b="1" u="sng" dirty="0"/>
              <a:t>STEP 2</a:t>
            </a:r>
            <a:r>
              <a:rPr lang="en-US" b="1" dirty="0"/>
              <a:t> : </a:t>
            </a:r>
            <a:r>
              <a:rPr lang="en-US" b="1" u="sng" dirty="0"/>
              <a:t>Removing Duplicates</a:t>
            </a:r>
          </a:p>
          <a:p>
            <a:r>
              <a:rPr lang="en-US" dirty="0"/>
              <a:t>Verified duplicate entries by using REMOVE DUPLICATES under the data tab and no duplicate values were found.</a:t>
            </a:r>
          </a:p>
          <a:p>
            <a:pPr marL="342900" indent="-342900"/>
            <a:endParaRPr lang="en-US" dirty="0"/>
          </a:p>
          <a:p>
            <a:pPr marL="342900" indent="-342900"/>
            <a:endParaRPr lang="en-US" dirty="0"/>
          </a:p>
          <a:p>
            <a:pPr marL="342900" indent="-342900"/>
            <a:endParaRPr lang="en-US" dirty="0"/>
          </a:p>
          <a:p>
            <a:pPr marL="342900" indent="-342900"/>
            <a:endParaRPr lang="en-US" dirty="0"/>
          </a:p>
          <a:p>
            <a:pPr marL="342900" indent="-342900"/>
            <a:endParaRPr lang="en-US" dirty="0"/>
          </a:p>
          <a:p>
            <a:endParaRPr lang="en-IN" dirty="0"/>
          </a:p>
        </p:txBody>
      </p:sp>
    </p:spTree>
    <p:extLst>
      <p:ext uri="{BB962C8B-B14F-4D97-AF65-F5344CB8AC3E}">
        <p14:creationId xmlns:p14="http://schemas.microsoft.com/office/powerpoint/2010/main" val="31760069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7DF85-7BF9-200F-EDCC-2ED3AC5BB3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A63EE4-1C2E-380F-7886-B6F1A03C7765}"/>
              </a:ext>
            </a:extLst>
          </p:cNvPr>
          <p:cNvSpPr>
            <a:spLocks noGrp="1"/>
          </p:cNvSpPr>
          <p:nvPr>
            <p:ph type="title"/>
          </p:nvPr>
        </p:nvSpPr>
        <p:spPr>
          <a:xfrm>
            <a:off x="913775" y="0"/>
            <a:ext cx="10364451" cy="1596177"/>
          </a:xfrm>
        </p:spPr>
        <p:txBody>
          <a:bodyPr>
            <a:normAutofit/>
          </a:bodyPr>
          <a:lstStyle/>
          <a:p>
            <a:r>
              <a:rPr lang="en-US" sz="2400" b="1" dirty="0"/>
              <a:t>DATA CLEANING &amp; PRE-PROCESSING</a:t>
            </a:r>
            <a:br>
              <a:rPr lang="en-US" sz="2400" dirty="0"/>
            </a:br>
            <a:endParaRPr lang="en-IN" sz="2400" dirty="0"/>
          </a:p>
        </p:txBody>
      </p:sp>
      <p:sp>
        <p:nvSpPr>
          <p:cNvPr id="3" name="Content Placeholder 2">
            <a:extLst>
              <a:ext uri="{FF2B5EF4-FFF2-40B4-BE49-F238E27FC236}">
                <a16:creationId xmlns:a16="http://schemas.microsoft.com/office/drawing/2014/main" id="{69C142ED-275A-59D2-DF79-D29C85703FB9}"/>
              </a:ext>
            </a:extLst>
          </p:cNvPr>
          <p:cNvSpPr>
            <a:spLocks noGrp="1"/>
          </p:cNvSpPr>
          <p:nvPr>
            <p:ph idx="1"/>
          </p:nvPr>
        </p:nvSpPr>
        <p:spPr>
          <a:xfrm>
            <a:off x="1025919" y="798088"/>
            <a:ext cx="10364452" cy="3424107"/>
          </a:xfrm>
        </p:spPr>
        <p:txBody>
          <a:bodyPr>
            <a:noAutofit/>
          </a:bodyPr>
          <a:lstStyle/>
          <a:p>
            <a:r>
              <a:rPr lang="en-US" b="1" u="sng" dirty="0"/>
              <a:t>STEP 3 </a:t>
            </a:r>
            <a:r>
              <a:rPr lang="en-US" b="1" dirty="0"/>
              <a:t>: </a:t>
            </a:r>
            <a:r>
              <a:rPr lang="en-US" b="1" u="sng" dirty="0"/>
              <a:t>Standardizing Text and Formats</a:t>
            </a:r>
          </a:p>
          <a:p>
            <a:r>
              <a:rPr lang="en-US" dirty="0"/>
              <a:t>Used TRIM function to remove extra white space in the columns.</a:t>
            </a:r>
          </a:p>
          <a:p>
            <a:r>
              <a:rPr lang="en-US" dirty="0"/>
              <a:t>Extracted text and numeric values of SEVERITY column in different columns for better insights.</a:t>
            </a:r>
          </a:p>
          <a:p>
            <a:endParaRPr lang="en-US" dirty="0"/>
          </a:p>
          <a:p>
            <a:r>
              <a:rPr lang="en-US" b="1" u="sng" dirty="0"/>
              <a:t>STEP 4</a:t>
            </a:r>
            <a:r>
              <a:rPr lang="en-US" b="1" dirty="0"/>
              <a:t> : </a:t>
            </a:r>
            <a:r>
              <a:rPr lang="en-US" b="1" u="sng" dirty="0"/>
              <a:t>Data Enrichment</a:t>
            </a:r>
          </a:p>
          <a:p>
            <a:pPr marL="342900" indent="-342900">
              <a:buFontTx/>
              <a:buChar char="-"/>
            </a:pPr>
            <a:r>
              <a:rPr lang="en-US" dirty="0"/>
              <a:t>Created additional columns other than from raw data to provide more detailed information.</a:t>
            </a:r>
          </a:p>
          <a:p>
            <a:pPr marL="0" indent="0">
              <a:buNone/>
            </a:pPr>
            <a:r>
              <a:rPr lang="en-US" b="1" dirty="0"/>
              <a:t>    For Example : </a:t>
            </a:r>
          </a:p>
          <a:p>
            <a:r>
              <a:rPr lang="en-US" dirty="0"/>
              <a:t>  Created different ‘Year’ and ‘Quarter’ column to provide yearly and quarterly           trend of IT tickets.</a:t>
            </a:r>
          </a:p>
          <a:p>
            <a:r>
              <a:rPr lang="en-US" dirty="0"/>
              <a:t>  Created ‘Age Group’ and ‘Seniority Level’ columns to look into agent     performance based on their demographic details.</a:t>
            </a:r>
          </a:p>
          <a:p>
            <a:endParaRPr lang="en-IN" dirty="0"/>
          </a:p>
        </p:txBody>
      </p:sp>
    </p:spTree>
    <p:extLst>
      <p:ext uri="{BB962C8B-B14F-4D97-AF65-F5344CB8AC3E}">
        <p14:creationId xmlns:p14="http://schemas.microsoft.com/office/powerpoint/2010/main" val="34099849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1769D-89AA-83E3-9BD4-DA1DE4D3490F}"/>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363183AD-745D-1886-CDF8-D986A7B5D3FB}"/>
              </a:ext>
            </a:extLst>
          </p:cNvPr>
          <p:cNvSpPr>
            <a:spLocks noGrp="1"/>
          </p:cNvSpPr>
          <p:nvPr>
            <p:ph type="title"/>
          </p:nvPr>
        </p:nvSpPr>
        <p:spPr>
          <a:xfrm>
            <a:off x="587829" y="274956"/>
            <a:ext cx="10515600" cy="779404"/>
          </a:xfrm>
        </p:spPr>
        <p:txBody>
          <a:bodyPr>
            <a:normAutofit/>
          </a:bodyPr>
          <a:lstStyle/>
          <a:p>
            <a:pPr marL="742950" indent="-742950">
              <a:buFont typeface="+mj-lt"/>
              <a:buAutoNum type="arabicPeriod"/>
            </a:pPr>
            <a:r>
              <a:rPr lang="en-US" sz="2400" b="1" dirty="0">
                <a:solidFill>
                  <a:srgbClr val="000000"/>
                </a:solidFill>
              </a:rPr>
              <a:t>TICKET VOLUME TREND ANALYSIS (2016-2020)</a:t>
            </a:r>
          </a:p>
        </p:txBody>
      </p:sp>
      <p:sp>
        <p:nvSpPr>
          <p:cNvPr id="8" name="TextBox 7">
            <a:extLst>
              <a:ext uri="{FF2B5EF4-FFF2-40B4-BE49-F238E27FC236}">
                <a16:creationId xmlns:a16="http://schemas.microsoft.com/office/drawing/2014/main" id="{9F6085CB-BC9E-5D55-3501-ACF66846D03F}"/>
              </a:ext>
            </a:extLst>
          </p:cNvPr>
          <p:cNvSpPr txBox="1"/>
          <p:nvPr/>
        </p:nvSpPr>
        <p:spPr>
          <a:xfrm>
            <a:off x="1300667" y="4284186"/>
            <a:ext cx="9802761" cy="2185214"/>
          </a:xfrm>
          <a:prstGeom prst="rect">
            <a:avLst/>
          </a:prstGeom>
          <a:solidFill>
            <a:schemeClr val="bg1">
              <a:lumMod val="95000"/>
            </a:schemeClr>
          </a:solidFill>
          <a:ln/>
        </p:spPr>
        <p:style>
          <a:lnRef idx="2">
            <a:schemeClr val="dk1"/>
          </a:lnRef>
          <a:fillRef idx="1">
            <a:schemeClr val="lt1"/>
          </a:fillRef>
          <a:effectRef idx="0">
            <a:schemeClr val="dk1"/>
          </a:effectRef>
          <a:fontRef idx="minor">
            <a:schemeClr val="dk1"/>
          </a:fontRef>
        </p:style>
        <p:txBody>
          <a:bodyPr wrap="square" rtlCol="0">
            <a:spAutoFit/>
          </a:bodyPr>
          <a:lstStyle/>
          <a:p>
            <a:pPr marL="0" indent="0" algn="ctr">
              <a:lnSpc>
                <a:spcPct val="100000"/>
              </a:lnSpc>
              <a:spcBef>
                <a:spcPts val="0"/>
              </a:spcBef>
              <a:buFontTx/>
              <a:buNone/>
            </a:pPr>
            <a:endParaRPr lang="en-US" sz="2800" dirty="0">
              <a:latin typeface="Posterama" panose="020B0504020200020000" pitchFamily="34" charset="0"/>
              <a:ea typeface="微软雅黑"/>
              <a:cs typeface="Posterama" panose="020B0504020200020000" pitchFamily="34" charset="0"/>
            </a:endParaRPr>
          </a:p>
          <a:p>
            <a:r>
              <a:rPr lang="en-US" dirty="0">
                <a:latin typeface="Posterama" panose="020B0504020200020000" pitchFamily="34" charset="0"/>
                <a:ea typeface="微软雅黑"/>
                <a:cs typeface="Posterama" panose="020B0504020200020000" pitchFamily="34" charset="0"/>
              </a:rPr>
              <a:t>📈 </a:t>
            </a:r>
            <a:r>
              <a:rPr lang="en-US" b="1" dirty="0">
                <a:latin typeface="Posterama" panose="020B0504020200020000" pitchFamily="34" charset="0"/>
                <a:ea typeface="微软雅黑"/>
                <a:cs typeface="Posterama" panose="020B0504020200020000" pitchFamily="34" charset="0"/>
              </a:rPr>
              <a:t>Consistent Growth Trend : </a:t>
            </a:r>
            <a:r>
              <a:rPr lang="en-US" dirty="0">
                <a:latin typeface="Posterama" panose="020B0504020200020000" pitchFamily="34" charset="0"/>
                <a:ea typeface="微软雅黑"/>
                <a:cs typeface="Posterama" panose="020B0504020200020000" pitchFamily="34" charset="0"/>
              </a:rPr>
              <a:t>Ticket volume shows a steady increase from 2016 to 2020 indicating continuous growth in IT support demand.</a:t>
            </a:r>
          </a:p>
          <a:p>
            <a:endParaRPr lang="en-US" dirty="0">
              <a:latin typeface="Posterama" panose="020B0504020200020000" pitchFamily="34" charset="0"/>
              <a:ea typeface="微软雅黑"/>
              <a:cs typeface="Posterama" panose="020B0504020200020000" pitchFamily="34" charset="0"/>
            </a:endParaRPr>
          </a:p>
          <a:p>
            <a:r>
              <a:rPr lang="en-US" dirty="0">
                <a:latin typeface="Posterama" panose="020B0504020200020000" pitchFamily="34" charset="0"/>
                <a:ea typeface="微软雅黑"/>
                <a:cs typeface="Posterama" panose="020B0504020200020000" pitchFamily="34" charset="0"/>
              </a:rPr>
              <a:t>👥 </a:t>
            </a:r>
            <a:r>
              <a:rPr lang="en-US" b="1" dirty="0">
                <a:latin typeface="Posterama" panose="020B0504020200020000" pitchFamily="34" charset="0"/>
                <a:ea typeface="微软雅黑"/>
                <a:cs typeface="Posterama" panose="020B0504020200020000" pitchFamily="34" charset="0"/>
              </a:rPr>
              <a:t>Rising Workload Pressure : </a:t>
            </a:r>
            <a:r>
              <a:rPr lang="en-US" dirty="0">
                <a:latin typeface="Posterama" panose="020B0504020200020000" pitchFamily="34" charset="0"/>
                <a:ea typeface="微软雅黑"/>
                <a:cs typeface="Posterama" panose="020B0504020200020000" pitchFamily="34" charset="0"/>
              </a:rPr>
              <a:t>Increasing ticket numbers indicate growing workload pressure on the IT support team.</a:t>
            </a:r>
          </a:p>
          <a:p>
            <a:pPr marL="0" indent="0" algn="ctr">
              <a:lnSpc>
                <a:spcPct val="100000"/>
              </a:lnSpc>
              <a:spcBef>
                <a:spcPts val="0"/>
              </a:spcBef>
              <a:buFontTx/>
              <a:buNone/>
            </a:pPr>
            <a:endParaRPr lang="en-US" sz="1800" dirty="0">
              <a:latin typeface="Posterama" panose="020B0504020200020000" pitchFamily="34" charset="0"/>
              <a:ea typeface="微软雅黑"/>
              <a:cs typeface="Posterama" panose="020B0504020200020000" pitchFamily="34" charset="0"/>
            </a:endParaRPr>
          </a:p>
        </p:txBody>
      </p:sp>
      <p:pic>
        <p:nvPicPr>
          <p:cNvPr id="3" name="Picture 2">
            <a:extLst>
              <a:ext uri="{FF2B5EF4-FFF2-40B4-BE49-F238E27FC236}">
                <a16:creationId xmlns:a16="http://schemas.microsoft.com/office/drawing/2014/main" id="{3D5A633D-DEF5-1003-63AF-B4DD9ADFC6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00668" y="1157968"/>
            <a:ext cx="9802760" cy="2827435"/>
          </a:xfrm>
          <a:prstGeom prst="rect">
            <a:avLst/>
          </a:prstGeom>
        </p:spPr>
      </p:pic>
    </p:spTree>
    <p:extLst>
      <p:ext uri="{BB962C8B-B14F-4D97-AF65-F5344CB8AC3E}">
        <p14:creationId xmlns:p14="http://schemas.microsoft.com/office/powerpoint/2010/main" val="11276891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BC9BFF-A52B-E1F2-43A4-C362BA4727F4}"/>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25AE0270-3AB3-B412-CCAE-75DE508CA502}"/>
              </a:ext>
            </a:extLst>
          </p:cNvPr>
          <p:cNvSpPr>
            <a:spLocks noGrp="1"/>
          </p:cNvSpPr>
          <p:nvPr>
            <p:ph type="title"/>
          </p:nvPr>
        </p:nvSpPr>
        <p:spPr>
          <a:xfrm>
            <a:off x="587829" y="274956"/>
            <a:ext cx="10515600" cy="779404"/>
          </a:xfrm>
        </p:spPr>
        <p:txBody>
          <a:bodyPr>
            <a:normAutofit/>
          </a:bodyPr>
          <a:lstStyle/>
          <a:p>
            <a:pPr marL="742950" indent="-742950">
              <a:buFont typeface="+mj-lt"/>
              <a:buAutoNum type="arabicPeriod" startAt="2"/>
            </a:pPr>
            <a:r>
              <a:rPr lang="en-US" sz="2400" b="1" dirty="0">
                <a:solidFill>
                  <a:schemeClr val="tx1"/>
                </a:solidFill>
              </a:rPr>
              <a:t>TICKET DISTRIBUTION BY REQUEST CATEGORY</a:t>
            </a:r>
          </a:p>
        </p:txBody>
      </p:sp>
      <p:sp>
        <p:nvSpPr>
          <p:cNvPr id="8" name="TextBox 7">
            <a:extLst>
              <a:ext uri="{FF2B5EF4-FFF2-40B4-BE49-F238E27FC236}">
                <a16:creationId xmlns:a16="http://schemas.microsoft.com/office/drawing/2014/main" id="{5D0AE170-81C9-A814-D677-1B303D5006FF}"/>
              </a:ext>
            </a:extLst>
          </p:cNvPr>
          <p:cNvSpPr txBox="1"/>
          <p:nvPr/>
        </p:nvSpPr>
        <p:spPr>
          <a:xfrm>
            <a:off x="6427912" y="1948521"/>
            <a:ext cx="5388299" cy="3139321"/>
          </a:xfrm>
          <a:prstGeom prst="rect">
            <a:avLst/>
          </a:prstGeom>
          <a:solidFill>
            <a:schemeClr val="bg1">
              <a:lumMod val="95000"/>
            </a:schemeClr>
          </a:solidFill>
          <a:ln/>
        </p:spPr>
        <p:style>
          <a:lnRef idx="2">
            <a:schemeClr val="dk1"/>
          </a:lnRef>
          <a:fillRef idx="1">
            <a:schemeClr val="lt1"/>
          </a:fillRef>
          <a:effectRef idx="0">
            <a:schemeClr val="dk1"/>
          </a:effectRef>
          <a:fontRef idx="minor">
            <a:schemeClr val="dk1"/>
          </a:fontRef>
        </p:style>
        <p:txBody>
          <a:bodyPr wrap="square" rtlCol="0">
            <a:spAutoFit/>
          </a:bodyPr>
          <a:lstStyle/>
          <a:p>
            <a:pPr marL="285750" indent="-285750">
              <a:buFont typeface="Arial" panose="020B0604020202020204" pitchFamily="34" charset="0"/>
              <a:buChar char="•"/>
            </a:pPr>
            <a:r>
              <a:rPr lang="en-US" dirty="0"/>
              <a:t>The average daily ticket volume is 53.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System and Login Access categories account for the vast majority of IT requests.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Hardware has the lowest ticket volume but the longest resolution time.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IN" dirty="0"/>
              <a:t>System issues account for 40% of tickets, Login Access 30%, Software 20% and Hardware 10%</a:t>
            </a:r>
            <a:endParaRPr lang="en-US" dirty="0"/>
          </a:p>
          <a:p>
            <a:endParaRPr lang="en-US" dirty="0">
              <a:latin typeface="Posterama" panose="020B0504020200020000" pitchFamily="34" charset="0"/>
              <a:ea typeface="微软雅黑"/>
              <a:cs typeface="Posterama" panose="020B0504020200020000" pitchFamily="34" charset="0"/>
            </a:endParaRPr>
          </a:p>
        </p:txBody>
      </p:sp>
      <p:pic>
        <p:nvPicPr>
          <p:cNvPr id="3" name="Picture 2">
            <a:extLst>
              <a:ext uri="{FF2B5EF4-FFF2-40B4-BE49-F238E27FC236}">
                <a16:creationId xmlns:a16="http://schemas.microsoft.com/office/drawing/2014/main" id="{E0ADF51F-19B0-4CAD-3FC9-D8F348AA51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829" y="1923166"/>
            <a:ext cx="5388299" cy="3164676"/>
          </a:xfrm>
          <a:prstGeom prst="rect">
            <a:avLst/>
          </a:prstGeom>
        </p:spPr>
      </p:pic>
    </p:spTree>
    <p:extLst>
      <p:ext uri="{BB962C8B-B14F-4D97-AF65-F5344CB8AC3E}">
        <p14:creationId xmlns:p14="http://schemas.microsoft.com/office/powerpoint/2010/main" val="30582342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3F5A3-7D8E-ED10-909A-8906A7A728AF}"/>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1C704DDD-1121-EAC7-5476-56A74D714501}"/>
              </a:ext>
            </a:extLst>
          </p:cNvPr>
          <p:cNvSpPr>
            <a:spLocks noGrp="1"/>
          </p:cNvSpPr>
          <p:nvPr>
            <p:ph type="title"/>
          </p:nvPr>
        </p:nvSpPr>
        <p:spPr>
          <a:xfrm>
            <a:off x="587829" y="274956"/>
            <a:ext cx="10515600" cy="779404"/>
          </a:xfrm>
        </p:spPr>
        <p:txBody>
          <a:bodyPr>
            <a:normAutofit/>
          </a:bodyPr>
          <a:lstStyle/>
          <a:p>
            <a:pPr marL="742950" indent="-742950">
              <a:buFont typeface="+mj-lt"/>
              <a:buAutoNum type="arabicPeriod" startAt="3"/>
            </a:pPr>
            <a:r>
              <a:rPr lang="en-US" sz="2400" b="1" dirty="0">
                <a:solidFill>
                  <a:schemeClr val="tx1"/>
                </a:solidFill>
              </a:rPr>
              <a:t>SATISFACTION RATE OVER TIME (2016-2020)</a:t>
            </a:r>
          </a:p>
        </p:txBody>
      </p:sp>
      <p:sp>
        <p:nvSpPr>
          <p:cNvPr id="8" name="TextBox 7">
            <a:extLst>
              <a:ext uri="{FF2B5EF4-FFF2-40B4-BE49-F238E27FC236}">
                <a16:creationId xmlns:a16="http://schemas.microsoft.com/office/drawing/2014/main" id="{D921E147-D069-8A37-BEFF-35FFB7B050EB}"/>
              </a:ext>
            </a:extLst>
          </p:cNvPr>
          <p:cNvSpPr txBox="1"/>
          <p:nvPr/>
        </p:nvSpPr>
        <p:spPr>
          <a:xfrm>
            <a:off x="1378975" y="4448319"/>
            <a:ext cx="9161206" cy="1477328"/>
          </a:xfrm>
          <a:prstGeom prst="rect">
            <a:avLst/>
          </a:prstGeom>
          <a:ln/>
        </p:spPr>
        <p:style>
          <a:lnRef idx="2">
            <a:schemeClr val="dk1"/>
          </a:lnRef>
          <a:fillRef idx="1">
            <a:schemeClr val="lt1"/>
          </a:fillRef>
          <a:effectRef idx="0">
            <a:schemeClr val="dk1"/>
          </a:effectRef>
          <a:fontRef idx="minor">
            <a:schemeClr val="dk1"/>
          </a:fontRef>
        </p:style>
        <p:txBody>
          <a:bodyPr wrap="square" rtlCol="0">
            <a:spAutoFit/>
          </a:bodyPr>
          <a:lstStyle/>
          <a:p>
            <a:r>
              <a:rPr lang="en-US" b="1" dirty="0">
                <a:latin typeface="Posterama" panose="020B0504020200020000" pitchFamily="34" charset="0"/>
                <a:ea typeface="微软雅黑"/>
                <a:cs typeface="Posterama" panose="020B0504020200020000" pitchFamily="34" charset="0"/>
              </a:rPr>
              <a:t>😊 Consistently High Satisfaction Levels : </a:t>
            </a:r>
            <a:r>
              <a:rPr lang="en-US" dirty="0">
                <a:latin typeface="Posterama" panose="020B0504020200020000" pitchFamily="34" charset="0"/>
                <a:ea typeface="微软雅黑"/>
                <a:cs typeface="Posterama" panose="020B0504020200020000" pitchFamily="34" charset="0"/>
              </a:rPr>
              <a:t>Customer satisfaction remains stable and high (around 4+) throughout the observed period.</a:t>
            </a:r>
          </a:p>
          <a:p>
            <a:endParaRPr lang="en-US" dirty="0">
              <a:latin typeface="Posterama" panose="020B0504020200020000" pitchFamily="34" charset="0"/>
              <a:ea typeface="微软雅黑"/>
              <a:cs typeface="Posterama" panose="020B0504020200020000" pitchFamily="34" charset="0"/>
            </a:endParaRPr>
          </a:p>
          <a:p>
            <a:r>
              <a:rPr lang="en-US" dirty="0">
                <a:latin typeface="Posterama" panose="020B0504020200020000" pitchFamily="34" charset="0"/>
                <a:ea typeface="微软雅黑"/>
                <a:cs typeface="Posterama" panose="020B0504020200020000" pitchFamily="34" charset="0"/>
              </a:rPr>
              <a:t>🔧 </a:t>
            </a:r>
            <a:r>
              <a:rPr lang="en-US" b="1" dirty="0">
                <a:latin typeface="Posterama" panose="020B0504020200020000" pitchFamily="34" charset="0"/>
                <a:ea typeface="微软雅黑"/>
                <a:cs typeface="Posterama" panose="020B0504020200020000" pitchFamily="34" charset="0"/>
              </a:rPr>
              <a:t>Service Quality Maintained Despite Ticket Growth : </a:t>
            </a:r>
            <a:r>
              <a:rPr lang="en-US" dirty="0">
                <a:latin typeface="Posterama" panose="020B0504020200020000" pitchFamily="34" charset="0"/>
                <a:ea typeface="微软雅黑"/>
                <a:cs typeface="Posterama" panose="020B0504020200020000" pitchFamily="34" charset="0"/>
              </a:rPr>
              <a:t>Even with increasing ticket volume satisfaction levels have not declined reflecting effective issue resolution.</a:t>
            </a:r>
          </a:p>
        </p:txBody>
      </p:sp>
      <p:pic>
        <p:nvPicPr>
          <p:cNvPr id="6" name="Picture 5">
            <a:extLst>
              <a:ext uri="{FF2B5EF4-FFF2-40B4-BE49-F238E27FC236}">
                <a16:creationId xmlns:a16="http://schemas.microsoft.com/office/drawing/2014/main" id="{C7D31B8B-41C0-072A-0CFD-D9CA3BFCF7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45075" y="1054360"/>
            <a:ext cx="6001108" cy="3024668"/>
          </a:xfrm>
          <a:prstGeom prst="rect">
            <a:avLst/>
          </a:prstGeom>
        </p:spPr>
      </p:pic>
    </p:spTree>
    <p:extLst>
      <p:ext uri="{BB962C8B-B14F-4D97-AF65-F5344CB8AC3E}">
        <p14:creationId xmlns:p14="http://schemas.microsoft.com/office/powerpoint/2010/main" val="14211520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E8F78-2103-C297-A0F4-B4CFD9B54AE5}"/>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D8092785-B576-1A43-084A-0C91F75EA7FC}"/>
              </a:ext>
            </a:extLst>
          </p:cNvPr>
          <p:cNvSpPr>
            <a:spLocks noGrp="1"/>
          </p:cNvSpPr>
          <p:nvPr>
            <p:ph type="title"/>
          </p:nvPr>
        </p:nvSpPr>
        <p:spPr>
          <a:xfrm>
            <a:off x="587829" y="274956"/>
            <a:ext cx="10515600" cy="779404"/>
          </a:xfrm>
        </p:spPr>
        <p:txBody>
          <a:bodyPr>
            <a:normAutofit/>
          </a:bodyPr>
          <a:lstStyle/>
          <a:p>
            <a:pPr marL="514350" indent="-514350">
              <a:buFont typeface="+mj-lt"/>
              <a:buAutoNum type="arabicPeriod" startAt="4"/>
            </a:pPr>
            <a:r>
              <a:rPr lang="en-US" sz="2400" b="1" dirty="0">
                <a:solidFill>
                  <a:schemeClr val="tx1"/>
                </a:solidFill>
              </a:rPr>
              <a:t>RESOLUTION TIME EFFICIENCY ANALYSIS BY REQUEST CATEGORY</a:t>
            </a:r>
          </a:p>
        </p:txBody>
      </p:sp>
      <p:sp>
        <p:nvSpPr>
          <p:cNvPr id="8" name="TextBox 7">
            <a:extLst>
              <a:ext uri="{FF2B5EF4-FFF2-40B4-BE49-F238E27FC236}">
                <a16:creationId xmlns:a16="http://schemas.microsoft.com/office/drawing/2014/main" id="{D31A2E7E-9B33-D87C-DB7F-6C797FFB83D4}"/>
              </a:ext>
            </a:extLst>
          </p:cNvPr>
          <p:cNvSpPr txBox="1"/>
          <p:nvPr/>
        </p:nvSpPr>
        <p:spPr>
          <a:xfrm>
            <a:off x="7431995" y="1780581"/>
            <a:ext cx="4352041" cy="3693319"/>
          </a:xfrm>
          <a:prstGeom prst="rect">
            <a:avLst/>
          </a:prstGeom>
          <a:solidFill>
            <a:schemeClr val="bg1">
              <a:lumMod val="95000"/>
            </a:schemeClr>
          </a:solidFill>
          <a:ln/>
        </p:spPr>
        <p:style>
          <a:lnRef idx="2">
            <a:schemeClr val="dk1"/>
          </a:lnRef>
          <a:fillRef idx="1">
            <a:schemeClr val="lt1"/>
          </a:fillRef>
          <a:effectRef idx="0">
            <a:schemeClr val="dk1"/>
          </a:effectRef>
          <a:fontRef idx="minor">
            <a:schemeClr val="dk1"/>
          </a:fontRef>
        </p:style>
        <p:txBody>
          <a:bodyPr wrap="square" rtlCol="0">
            <a:spAutoFit/>
          </a:bodyPr>
          <a:lstStyle/>
          <a:p>
            <a:pPr marL="285750" indent="-285750">
              <a:buFont typeface="Arial" panose="020B0604020202020204" pitchFamily="34" charset="0"/>
              <a:buChar char="•"/>
            </a:pPr>
            <a:r>
              <a:rPr lang="en-IN" dirty="0"/>
              <a:t>Hardware issues take the longest to resolve 7.63 days.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System issues average 6.62 days.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Software requests average 5.24 days.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Login Access requests are resolved very quickly (0.31 days).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Hardware resolution is a systemic issue affecting all agent age groups.</a:t>
            </a:r>
          </a:p>
          <a:p>
            <a:endParaRPr lang="en-US" dirty="0">
              <a:latin typeface="Posterama" panose="020B0504020200020000" pitchFamily="34" charset="0"/>
              <a:ea typeface="微软雅黑"/>
              <a:cs typeface="Posterama" panose="020B0504020200020000" pitchFamily="34" charset="0"/>
            </a:endParaRPr>
          </a:p>
        </p:txBody>
      </p:sp>
      <p:pic>
        <p:nvPicPr>
          <p:cNvPr id="6" name="Picture 5">
            <a:extLst>
              <a:ext uri="{FF2B5EF4-FFF2-40B4-BE49-F238E27FC236}">
                <a16:creationId xmlns:a16="http://schemas.microsoft.com/office/drawing/2014/main" id="{108183EA-C259-178A-D8BF-F817D519EA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7964" y="1780581"/>
            <a:ext cx="6559887" cy="3693318"/>
          </a:xfrm>
          <a:prstGeom prst="rect">
            <a:avLst/>
          </a:prstGeom>
        </p:spPr>
      </p:pic>
    </p:spTree>
    <p:extLst>
      <p:ext uri="{BB962C8B-B14F-4D97-AF65-F5344CB8AC3E}">
        <p14:creationId xmlns:p14="http://schemas.microsoft.com/office/powerpoint/2010/main" val="35933883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A0B9C-E807-D78D-6F69-BBB0D23C8514}"/>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18FBF2ED-32E2-64B9-8076-A2F47C9F2D7E}"/>
              </a:ext>
            </a:extLst>
          </p:cNvPr>
          <p:cNvSpPr>
            <a:spLocks noGrp="1"/>
          </p:cNvSpPr>
          <p:nvPr>
            <p:ph type="title"/>
          </p:nvPr>
        </p:nvSpPr>
        <p:spPr>
          <a:xfrm>
            <a:off x="587829" y="274956"/>
            <a:ext cx="10515600" cy="779404"/>
          </a:xfrm>
        </p:spPr>
        <p:txBody>
          <a:bodyPr>
            <a:normAutofit/>
          </a:bodyPr>
          <a:lstStyle/>
          <a:p>
            <a:pPr marL="514350" indent="-514350">
              <a:buFont typeface="+mj-lt"/>
              <a:buAutoNum type="arabicPeriod" startAt="5"/>
            </a:pPr>
            <a:r>
              <a:rPr lang="en-US" sz="2400" b="1" dirty="0">
                <a:solidFill>
                  <a:schemeClr val="tx1"/>
                </a:solidFill>
              </a:rPr>
              <a:t>SEVERITY-BASED IT TICKET DISTRIBUTION ANALYSIS</a:t>
            </a:r>
          </a:p>
        </p:txBody>
      </p:sp>
      <p:sp>
        <p:nvSpPr>
          <p:cNvPr id="8" name="TextBox 7">
            <a:extLst>
              <a:ext uri="{FF2B5EF4-FFF2-40B4-BE49-F238E27FC236}">
                <a16:creationId xmlns:a16="http://schemas.microsoft.com/office/drawing/2014/main" id="{9956A2FA-DC84-91AD-4C8D-6D2C6DF1F4A6}"/>
              </a:ext>
            </a:extLst>
          </p:cNvPr>
          <p:cNvSpPr txBox="1"/>
          <p:nvPr/>
        </p:nvSpPr>
        <p:spPr>
          <a:xfrm>
            <a:off x="6945167" y="2242847"/>
            <a:ext cx="4352041" cy="2893100"/>
          </a:xfrm>
          <a:prstGeom prst="rect">
            <a:avLst/>
          </a:prstGeom>
          <a:solidFill>
            <a:schemeClr val="bg1">
              <a:lumMod val="95000"/>
            </a:schemeClr>
          </a:solidFill>
          <a:ln/>
        </p:spPr>
        <p:style>
          <a:lnRef idx="2">
            <a:schemeClr val="dk1"/>
          </a:lnRef>
          <a:fillRef idx="1">
            <a:schemeClr val="lt1"/>
          </a:fillRef>
          <a:effectRef idx="0">
            <a:schemeClr val="dk1"/>
          </a:effectRef>
          <a:fontRef idx="minor">
            <a:schemeClr val="dk1"/>
          </a:fontRef>
        </p:style>
        <p:txBody>
          <a:bodyPr wrap="square" rtlCol="0">
            <a:spAutoFit/>
          </a:bodyPr>
          <a:lstStyle/>
          <a:p>
            <a:endParaRPr lang="en-US" dirty="0">
              <a:latin typeface="+mj-lt"/>
              <a:ea typeface="微软雅黑"/>
              <a:cs typeface="Posterama" panose="020B0504020200020000" pitchFamily="34" charset="0"/>
            </a:endParaRPr>
          </a:p>
          <a:p>
            <a:r>
              <a:rPr lang="en-US" dirty="0">
                <a:latin typeface="+mj-lt"/>
                <a:ea typeface="微软雅黑"/>
                <a:cs typeface="Posterama" panose="020B0504020200020000" pitchFamily="34" charset="0"/>
              </a:rPr>
              <a:t>📌 </a:t>
            </a:r>
            <a:r>
              <a:rPr lang="en-US" b="1" dirty="0">
                <a:latin typeface="+mj-lt"/>
                <a:ea typeface="微软雅黑"/>
                <a:cs typeface="Posterama" panose="020B0504020200020000" pitchFamily="34" charset="0"/>
              </a:rPr>
              <a:t>Majority of Tickets Fall Under “Normal” Severity : </a:t>
            </a:r>
            <a:r>
              <a:rPr lang="en-US" dirty="0">
                <a:latin typeface="+mj-lt"/>
                <a:ea typeface="微软雅黑"/>
                <a:cs typeface="Posterama" panose="020B0504020200020000" pitchFamily="34" charset="0"/>
              </a:rPr>
              <a:t>Most tickets are classified as Severity 2 (Normal) indicating routine operational issues form the bulk of IT support requests.</a:t>
            </a:r>
          </a:p>
          <a:p>
            <a:endParaRPr lang="en-US" dirty="0">
              <a:latin typeface="+mj-lt"/>
              <a:ea typeface="微软雅黑"/>
              <a:cs typeface="Posterama" panose="020B0504020200020000" pitchFamily="34" charset="0"/>
            </a:endParaRPr>
          </a:p>
          <a:p>
            <a:r>
              <a:rPr lang="en-US" dirty="0">
                <a:latin typeface="+mj-lt"/>
                <a:ea typeface="微软雅黑"/>
                <a:cs typeface="Posterama" panose="020B0504020200020000" pitchFamily="34" charset="0"/>
              </a:rPr>
              <a:t>❓ </a:t>
            </a:r>
            <a:r>
              <a:rPr lang="en-US" b="1" dirty="0">
                <a:latin typeface="+mj-lt"/>
                <a:ea typeface="微软雅黑"/>
                <a:cs typeface="Posterama" panose="020B0504020200020000" pitchFamily="34" charset="0"/>
              </a:rPr>
              <a:t>Minimal Unclassified Tickets : </a:t>
            </a:r>
            <a:r>
              <a:rPr lang="en-US" dirty="0">
                <a:latin typeface="+mj-lt"/>
                <a:ea typeface="微软雅黑"/>
                <a:cs typeface="Posterama" panose="020B0504020200020000" pitchFamily="34" charset="0"/>
              </a:rPr>
              <a:t>Very few tickets remain unclassified indicating good ticket categorization practices.</a:t>
            </a:r>
          </a:p>
        </p:txBody>
      </p:sp>
      <p:pic>
        <p:nvPicPr>
          <p:cNvPr id="3" name="Picture 2">
            <a:extLst>
              <a:ext uri="{FF2B5EF4-FFF2-40B4-BE49-F238E27FC236}">
                <a16:creationId xmlns:a16="http://schemas.microsoft.com/office/drawing/2014/main" id="{659A9F44-ED1E-E7EA-B4AD-ACCB4CD048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4792" y="2242847"/>
            <a:ext cx="4656235" cy="2893100"/>
          </a:xfrm>
          <a:prstGeom prst="rect">
            <a:avLst/>
          </a:prstGeom>
        </p:spPr>
      </p:pic>
    </p:spTree>
    <p:extLst>
      <p:ext uri="{BB962C8B-B14F-4D97-AF65-F5344CB8AC3E}">
        <p14:creationId xmlns:p14="http://schemas.microsoft.com/office/powerpoint/2010/main" val="5407859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ext Placeholder 49">
            <a:extLst>
              <a:ext uri="{FF2B5EF4-FFF2-40B4-BE49-F238E27FC236}">
                <a16:creationId xmlns:a16="http://schemas.microsoft.com/office/drawing/2014/main" id="{0532F467-8DBE-D445-0CF7-D5D242DAD663}"/>
              </a:ext>
            </a:extLst>
          </p:cNvPr>
          <p:cNvSpPr>
            <a:spLocks noGrp="1"/>
          </p:cNvSpPr>
          <p:nvPr>
            <p:ph type="body" sz="quarter" idx="32"/>
          </p:nvPr>
        </p:nvSpPr>
        <p:spPr>
          <a:xfrm>
            <a:off x="838200" y="2929823"/>
            <a:ext cx="2153102" cy="2464293"/>
          </a:xfrm>
          <a:ln>
            <a:solidFill>
              <a:schemeClr val="tx1"/>
            </a:solidFill>
          </a:ln>
        </p:spPr>
        <p:txBody>
          <a:bodyPr/>
          <a:lstStyle/>
          <a:p>
            <a:pPr lvl="0"/>
            <a:r>
              <a:rPr lang="en-US" dirty="0">
                <a:solidFill>
                  <a:schemeClr val="tx1"/>
                </a:solidFill>
              </a:rPr>
              <a:t>Prioritize proactive monitoring and preventive maintenance for system-related issues.</a:t>
            </a:r>
          </a:p>
        </p:txBody>
      </p:sp>
      <p:sp>
        <p:nvSpPr>
          <p:cNvPr id="52" name="Text Placeholder 51">
            <a:extLst>
              <a:ext uri="{FF2B5EF4-FFF2-40B4-BE49-F238E27FC236}">
                <a16:creationId xmlns:a16="http://schemas.microsoft.com/office/drawing/2014/main" id="{BACB9342-C47E-6729-46BE-F10DBB78182A}"/>
              </a:ext>
            </a:extLst>
          </p:cNvPr>
          <p:cNvSpPr>
            <a:spLocks noGrp="1"/>
          </p:cNvSpPr>
          <p:nvPr>
            <p:ph type="body" sz="quarter" idx="50"/>
          </p:nvPr>
        </p:nvSpPr>
        <p:spPr>
          <a:xfrm>
            <a:off x="3000302" y="2929823"/>
            <a:ext cx="2162105" cy="2471878"/>
          </a:xfrm>
          <a:ln>
            <a:solidFill>
              <a:schemeClr val="tx1"/>
            </a:solidFill>
          </a:ln>
        </p:spPr>
        <p:txBody>
          <a:bodyPr/>
          <a:lstStyle/>
          <a:p>
            <a:r>
              <a:rPr lang="en-US" dirty="0">
                <a:solidFill>
                  <a:schemeClr val="tx1"/>
                </a:solidFill>
              </a:rPr>
              <a:t>Automate password resets and access-related requests.</a:t>
            </a:r>
          </a:p>
          <a:p>
            <a:endParaRPr lang="en-US" dirty="0">
              <a:solidFill>
                <a:schemeClr val="tx1"/>
              </a:solidFill>
            </a:endParaRPr>
          </a:p>
        </p:txBody>
      </p:sp>
      <p:sp>
        <p:nvSpPr>
          <p:cNvPr id="54" name="Text Placeholder 53">
            <a:extLst>
              <a:ext uri="{FF2B5EF4-FFF2-40B4-BE49-F238E27FC236}">
                <a16:creationId xmlns:a16="http://schemas.microsoft.com/office/drawing/2014/main" id="{DDCD388C-8374-D810-DCE5-554B7E05F55A}"/>
              </a:ext>
            </a:extLst>
          </p:cNvPr>
          <p:cNvSpPr>
            <a:spLocks noGrp="1"/>
          </p:cNvSpPr>
          <p:nvPr>
            <p:ph type="body" sz="quarter" idx="51"/>
          </p:nvPr>
        </p:nvSpPr>
        <p:spPr>
          <a:xfrm>
            <a:off x="5164215" y="2929823"/>
            <a:ext cx="2153557" cy="2464293"/>
          </a:xfrm>
          <a:ln>
            <a:solidFill>
              <a:schemeClr val="tx1"/>
            </a:solidFill>
          </a:ln>
        </p:spPr>
        <p:txBody>
          <a:bodyPr/>
          <a:lstStyle/>
          <a:p>
            <a:pPr lvl="0"/>
            <a:r>
              <a:rPr lang="en-US" dirty="0">
                <a:solidFill>
                  <a:schemeClr val="tx1"/>
                </a:solidFill>
              </a:rPr>
              <a:t>Balance ticket distribution across agents using workload based assignment.</a:t>
            </a:r>
          </a:p>
          <a:p>
            <a:endParaRPr lang="en-US" dirty="0">
              <a:solidFill>
                <a:schemeClr val="tx1"/>
              </a:solidFill>
            </a:endParaRPr>
          </a:p>
        </p:txBody>
      </p:sp>
      <p:sp>
        <p:nvSpPr>
          <p:cNvPr id="56" name="Text Placeholder 55">
            <a:extLst>
              <a:ext uri="{FF2B5EF4-FFF2-40B4-BE49-F238E27FC236}">
                <a16:creationId xmlns:a16="http://schemas.microsoft.com/office/drawing/2014/main" id="{E62055F1-67DB-9D6D-ABE2-20C3B2514A43}"/>
              </a:ext>
            </a:extLst>
          </p:cNvPr>
          <p:cNvSpPr>
            <a:spLocks noGrp="1"/>
          </p:cNvSpPr>
          <p:nvPr>
            <p:ph type="body" sz="quarter" idx="52"/>
          </p:nvPr>
        </p:nvSpPr>
        <p:spPr>
          <a:xfrm>
            <a:off x="7326319" y="2929823"/>
            <a:ext cx="2154010" cy="2464293"/>
          </a:xfrm>
          <a:ln>
            <a:solidFill>
              <a:schemeClr val="tx1"/>
            </a:solidFill>
          </a:ln>
        </p:spPr>
        <p:txBody>
          <a:bodyPr/>
          <a:lstStyle/>
          <a:p>
            <a:pPr lvl="0"/>
            <a:r>
              <a:rPr lang="en-US" dirty="0">
                <a:solidFill>
                  <a:schemeClr val="tx1"/>
                </a:solidFill>
              </a:rPr>
              <a:t>Redesign severity based workflows to prevent prolonged resolution of normal severity tickets.</a:t>
            </a:r>
          </a:p>
          <a:p>
            <a:endParaRPr lang="en-US" dirty="0">
              <a:solidFill>
                <a:schemeClr val="tx1"/>
              </a:solidFill>
            </a:endParaRPr>
          </a:p>
        </p:txBody>
      </p:sp>
      <p:sp>
        <p:nvSpPr>
          <p:cNvPr id="58" name="Text Placeholder 57">
            <a:extLst>
              <a:ext uri="{FF2B5EF4-FFF2-40B4-BE49-F238E27FC236}">
                <a16:creationId xmlns:a16="http://schemas.microsoft.com/office/drawing/2014/main" id="{0930742F-3693-100E-944F-A04AB5320145}"/>
              </a:ext>
            </a:extLst>
          </p:cNvPr>
          <p:cNvSpPr>
            <a:spLocks noGrp="1"/>
          </p:cNvSpPr>
          <p:nvPr>
            <p:ph type="body" sz="quarter" idx="53"/>
          </p:nvPr>
        </p:nvSpPr>
        <p:spPr>
          <a:xfrm>
            <a:off x="9488424" y="2929823"/>
            <a:ext cx="1865376" cy="2464293"/>
          </a:xfrm>
          <a:ln>
            <a:solidFill>
              <a:schemeClr val="tx1"/>
            </a:solidFill>
          </a:ln>
        </p:spPr>
        <p:txBody>
          <a:bodyPr/>
          <a:lstStyle/>
          <a:p>
            <a:pPr lvl="0"/>
            <a:r>
              <a:rPr lang="en-US" dirty="0">
                <a:solidFill>
                  <a:schemeClr val="tx1"/>
                </a:solidFill>
              </a:rPr>
              <a:t>Invest in upgrading the ticket management software with better automation, categorization and tracking features.</a:t>
            </a:r>
          </a:p>
          <a:p>
            <a:endParaRPr lang="en-US" dirty="0">
              <a:solidFill>
                <a:schemeClr val="tx1"/>
              </a:solidFill>
            </a:endParaRPr>
          </a:p>
        </p:txBody>
      </p:sp>
      <p:sp>
        <p:nvSpPr>
          <p:cNvPr id="40" name="Text Placeholder 39">
            <a:extLst>
              <a:ext uri="{FF2B5EF4-FFF2-40B4-BE49-F238E27FC236}">
                <a16:creationId xmlns:a16="http://schemas.microsoft.com/office/drawing/2014/main" id="{FA2F9A05-8E79-46FF-1ABA-927EF2D69BC5}"/>
              </a:ext>
            </a:extLst>
          </p:cNvPr>
          <p:cNvSpPr>
            <a:spLocks noGrp="1"/>
          </p:cNvSpPr>
          <p:nvPr>
            <p:ph type="body" sz="quarter" idx="27"/>
          </p:nvPr>
        </p:nvSpPr>
        <p:spPr>
          <a:xfrm>
            <a:off x="838200" y="1861881"/>
            <a:ext cx="2160294" cy="1071482"/>
          </a:xfrm>
          <a:ln>
            <a:solidFill>
              <a:schemeClr val="tx1"/>
            </a:solidFill>
          </a:ln>
        </p:spPr>
        <p:txBody>
          <a:bodyPr/>
          <a:lstStyle/>
          <a:p>
            <a:r>
              <a:rPr lang="en-US" dirty="0">
                <a:solidFill>
                  <a:schemeClr val="tx1"/>
                </a:solidFill>
              </a:rPr>
              <a:t>Improve System Stability</a:t>
            </a:r>
          </a:p>
        </p:txBody>
      </p:sp>
      <p:sp>
        <p:nvSpPr>
          <p:cNvPr id="38" name="Title 37">
            <a:extLst>
              <a:ext uri="{FF2B5EF4-FFF2-40B4-BE49-F238E27FC236}">
                <a16:creationId xmlns:a16="http://schemas.microsoft.com/office/drawing/2014/main" id="{478CB64C-71AF-6B72-8069-000DD250502E}"/>
              </a:ext>
            </a:extLst>
          </p:cNvPr>
          <p:cNvSpPr>
            <a:spLocks noGrp="1"/>
          </p:cNvSpPr>
          <p:nvPr>
            <p:ph type="title"/>
          </p:nvPr>
        </p:nvSpPr>
        <p:spPr>
          <a:xfrm>
            <a:off x="982290" y="2347"/>
            <a:ext cx="10515600" cy="1325563"/>
          </a:xfrm>
        </p:spPr>
        <p:txBody>
          <a:bodyPr/>
          <a:lstStyle/>
          <a:p>
            <a:r>
              <a:rPr lang="en-US" sz="2400" b="1" dirty="0">
                <a:solidFill>
                  <a:schemeClr val="tx1"/>
                </a:solidFill>
              </a:rPr>
              <a:t>Recommendations</a:t>
            </a:r>
            <a:r>
              <a:rPr lang="en-US" sz="2400" dirty="0">
                <a:solidFill>
                  <a:schemeClr val="tx1"/>
                </a:solidFill>
              </a:rPr>
              <a:t> </a:t>
            </a:r>
          </a:p>
        </p:txBody>
      </p:sp>
      <p:sp>
        <p:nvSpPr>
          <p:cNvPr id="42" name="Text Placeholder 41">
            <a:extLst>
              <a:ext uri="{FF2B5EF4-FFF2-40B4-BE49-F238E27FC236}">
                <a16:creationId xmlns:a16="http://schemas.microsoft.com/office/drawing/2014/main" id="{48BF8F22-E288-84B0-03E9-82D678051D45}"/>
              </a:ext>
            </a:extLst>
          </p:cNvPr>
          <p:cNvSpPr>
            <a:spLocks noGrp="1"/>
          </p:cNvSpPr>
          <p:nvPr>
            <p:ph type="body" sz="quarter" idx="46"/>
          </p:nvPr>
        </p:nvSpPr>
        <p:spPr>
          <a:xfrm>
            <a:off x="3000756" y="1861881"/>
            <a:ext cx="2153556" cy="1071481"/>
          </a:xfrm>
          <a:ln>
            <a:solidFill>
              <a:schemeClr val="tx1"/>
            </a:solidFill>
          </a:ln>
        </p:spPr>
        <p:txBody>
          <a:bodyPr/>
          <a:lstStyle/>
          <a:p>
            <a:r>
              <a:rPr lang="en-US" dirty="0">
                <a:solidFill>
                  <a:schemeClr val="tx1"/>
                </a:solidFill>
              </a:rPr>
              <a:t>Strengthen login &amp; access management</a:t>
            </a:r>
          </a:p>
        </p:txBody>
      </p:sp>
      <p:sp>
        <p:nvSpPr>
          <p:cNvPr id="44" name="Text Placeholder 43">
            <a:extLst>
              <a:ext uri="{FF2B5EF4-FFF2-40B4-BE49-F238E27FC236}">
                <a16:creationId xmlns:a16="http://schemas.microsoft.com/office/drawing/2014/main" id="{D0C47E92-8875-E555-5480-8A9BAEE853A7}"/>
              </a:ext>
            </a:extLst>
          </p:cNvPr>
          <p:cNvSpPr>
            <a:spLocks noGrp="1"/>
          </p:cNvSpPr>
          <p:nvPr>
            <p:ph type="body" sz="quarter" idx="47"/>
          </p:nvPr>
        </p:nvSpPr>
        <p:spPr>
          <a:xfrm>
            <a:off x="5163312" y="1861881"/>
            <a:ext cx="2153556" cy="1071481"/>
          </a:xfrm>
          <a:ln>
            <a:solidFill>
              <a:schemeClr val="tx1"/>
            </a:solidFill>
          </a:ln>
        </p:spPr>
        <p:txBody>
          <a:bodyPr/>
          <a:lstStyle/>
          <a:p>
            <a:r>
              <a:rPr lang="en-US" dirty="0">
                <a:solidFill>
                  <a:schemeClr val="tx1"/>
                </a:solidFill>
              </a:rPr>
              <a:t>Optimize Agent Allocation</a:t>
            </a:r>
          </a:p>
        </p:txBody>
      </p:sp>
      <p:sp>
        <p:nvSpPr>
          <p:cNvPr id="46" name="Text Placeholder 45">
            <a:extLst>
              <a:ext uri="{FF2B5EF4-FFF2-40B4-BE49-F238E27FC236}">
                <a16:creationId xmlns:a16="http://schemas.microsoft.com/office/drawing/2014/main" id="{B87AFF1A-EF07-5FBF-C582-29AE302A47D5}"/>
              </a:ext>
            </a:extLst>
          </p:cNvPr>
          <p:cNvSpPr>
            <a:spLocks noGrp="1"/>
          </p:cNvSpPr>
          <p:nvPr>
            <p:ph type="body" sz="quarter" idx="48"/>
          </p:nvPr>
        </p:nvSpPr>
        <p:spPr>
          <a:xfrm>
            <a:off x="7325868" y="1861881"/>
            <a:ext cx="2161652" cy="1071481"/>
          </a:xfrm>
          <a:ln>
            <a:solidFill>
              <a:schemeClr val="tx1"/>
            </a:solidFill>
          </a:ln>
        </p:spPr>
        <p:txBody>
          <a:bodyPr/>
          <a:lstStyle/>
          <a:p>
            <a:r>
              <a:rPr lang="en-US" dirty="0">
                <a:solidFill>
                  <a:schemeClr val="tx1"/>
                </a:solidFill>
              </a:rPr>
              <a:t>Improve Severity-Based Workflow</a:t>
            </a:r>
          </a:p>
        </p:txBody>
      </p:sp>
      <p:sp>
        <p:nvSpPr>
          <p:cNvPr id="48" name="Text Placeholder 47">
            <a:extLst>
              <a:ext uri="{FF2B5EF4-FFF2-40B4-BE49-F238E27FC236}">
                <a16:creationId xmlns:a16="http://schemas.microsoft.com/office/drawing/2014/main" id="{9303DF4A-6DF5-9082-4ABE-2B0D5433359A}"/>
              </a:ext>
            </a:extLst>
          </p:cNvPr>
          <p:cNvSpPr>
            <a:spLocks noGrp="1"/>
          </p:cNvSpPr>
          <p:nvPr>
            <p:ph type="body" sz="quarter" idx="49"/>
          </p:nvPr>
        </p:nvSpPr>
        <p:spPr>
          <a:xfrm>
            <a:off x="9487520" y="1854679"/>
            <a:ext cx="1866280" cy="1078683"/>
          </a:xfrm>
          <a:ln>
            <a:solidFill>
              <a:schemeClr val="tx1"/>
            </a:solidFill>
          </a:ln>
        </p:spPr>
        <p:txBody>
          <a:bodyPr/>
          <a:lstStyle/>
          <a:p>
            <a:r>
              <a:rPr lang="en-US" dirty="0">
                <a:solidFill>
                  <a:schemeClr val="tx1"/>
                </a:solidFill>
              </a:rPr>
              <a:t>Upgrade Ticket Management Tools</a:t>
            </a:r>
          </a:p>
        </p:txBody>
      </p:sp>
      <p:sp>
        <p:nvSpPr>
          <p:cNvPr id="26" name="Rectangle 25">
            <a:extLst>
              <a:ext uri="{FF2B5EF4-FFF2-40B4-BE49-F238E27FC236}">
                <a16:creationId xmlns:a16="http://schemas.microsoft.com/office/drawing/2014/main" id="{285177ED-2E57-8FF5-AFD8-AA79A7B24B3D}"/>
              </a:ext>
              <a:ext uri="{C183D7F6-B498-43B3-948B-1728B52AA6E4}">
                <adec:decorative xmlns:adec="http://schemas.microsoft.com/office/drawing/2017/decorative" val="1"/>
              </a:ext>
            </a:extLst>
          </p:cNvPr>
          <p:cNvSpPr/>
          <p:nvPr/>
        </p:nvSpPr>
        <p:spPr>
          <a:xfrm>
            <a:off x="845392" y="1854679"/>
            <a:ext cx="10515600" cy="107148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chemeClr val="tx1"/>
              </a:solidFill>
              <a:latin typeface="+mn-lt"/>
            </a:endParaRPr>
          </a:p>
        </p:txBody>
      </p:sp>
      <p:sp>
        <p:nvSpPr>
          <p:cNvPr id="2" name="TextBox 1">
            <a:extLst>
              <a:ext uri="{FF2B5EF4-FFF2-40B4-BE49-F238E27FC236}">
                <a16:creationId xmlns:a16="http://schemas.microsoft.com/office/drawing/2014/main" id="{9A300280-C1E7-E9FE-FCB4-173E6AC94178}"/>
              </a:ext>
            </a:extLst>
          </p:cNvPr>
          <p:cNvSpPr txBox="1"/>
          <p:nvPr/>
        </p:nvSpPr>
        <p:spPr>
          <a:xfrm>
            <a:off x="2593910" y="5747657"/>
            <a:ext cx="8033657" cy="923330"/>
          </a:xfrm>
          <a:prstGeom prst="rect">
            <a:avLst/>
          </a:prstGeom>
          <a:solidFill>
            <a:schemeClr val="bg1">
              <a:lumMod val="95000"/>
            </a:schemeClr>
          </a:solidFill>
          <a:ln>
            <a:solidFill>
              <a:schemeClr val="tx1"/>
            </a:solidFill>
          </a:ln>
        </p:spPr>
        <p:txBody>
          <a:bodyPr wrap="square" rtlCol="0">
            <a:spAutoFit/>
          </a:bodyPr>
          <a:lstStyle/>
          <a:p>
            <a:pPr algn="ctr"/>
            <a:r>
              <a:rPr lang="en-US" b="1" dirty="0">
                <a:latin typeface="Posterama" panose="020B0504020200020000" pitchFamily="34" charset="0"/>
                <a:ea typeface="微软雅黑"/>
                <a:cs typeface="Posterama" panose="020B0504020200020000" pitchFamily="34" charset="0"/>
              </a:rPr>
              <a:t>Overall Impact: </a:t>
            </a:r>
            <a:r>
              <a:rPr lang="en-US" dirty="0">
                <a:latin typeface="Posterama" panose="020B0504020200020000" pitchFamily="34" charset="0"/>
                <a:ea typeface="微软雅黑"/>
                <a:cs typeface="Posterama" panose="020B0504020200020000" pitchFamily="34" charset="0"/>
              </a:rPr>
              <a:t>These recommendations focus on reducing recurring issues, improving response efficiency and enhancing customer satisfaction through data driven decision making.</a:t>
            </a:r>
            <a:endParaRPr lang="en-IN" sz="1800" dirty="0">
              <a:latin typeface="Posterama" panose="020B0504020200020000" pitchFamily="34" charset="0"/>
              <a:ea typeface="微软雅黑"/>
              <a:cs typeface="Posterama" panose="020B0504020200020000" pitchFamily="34" charset="0"/>
            </a:endParaRPr>
          </a:p>
        </p:txBody>
      </p:sp>
    </p:spTree>
    <p:extLst>
      <p:ext uri="{BB962C8B-B14F-4D97-AF65-F5344CB8AC3E}">
        <p14:creationId xmlns:p14="http://schemas.microsoft.com/office/powerpoint/2010/main" val="26240212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6D644-C067-DBE1-E687-0D5571ADB45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61F18CC-3CD7-45C4-68D6-9ED2E7D33431}"/>
              </a:ext>
            </a:extLst>
          </p:cNvPr>
          <p:cNvSpPr>
            <a:spLocks noGrp="1"/>
          </p:cNvSpPr>
          <p:nvPr>
            <p:ph type="title"/>
          </p:nvPr>
        </p:nvSpPr>
        <p:spPr>
          <a:xfrm>
            <a:off x="391886" y="177985"/>
            <a:ext cx="11079619" cy="662474"/>
          </a:xfrm>
        </p:spPr>
        <p:txBody>
          <a:bodyPr/>
          <a:lstStyle/>
          <a:p>
            <a:r>
              <a:rPr lang="en-US" sz="2400" b="1" dirty="0">
                <a:solidFill>
                  <a:schemeClr val="tx1"/>
                </a:solidFill>
              </a:rPr>
              <a:t>Dashboard</a:t>
            </a:r>
          </a:p>
        </p:txBody>
      </p:sp>
      <p:pic>
        <p:nvPicPr>
          <p:cNvPr id="5" name="Picture 4">
            <a:extLst>
              <a:ext uri="{FF2B5EF4-FFF2-40B4-BE49-F238E27FC236}">
                <a16:creationId xmlns:a16="http://schemas.microsoft.com/office/drawing/2014/main" id="{0FCA8A47-2D22-8FC4-220F-BE388EEA9A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40732" y="1030241"/>
            <a:ext cx="9017999" cy="5146272"/>
          </a:xfrm>
          <a:prstGeom prst="rect">
            <a:avLst/>
          </a:prstGeom>
        </p:spPr>
      </p:pic>
    </p:spTree>
    <p:extLst>
      <p:ext uri="{BB962C8B-B14F-4D97-AF65-F5344CB8AC3E}">
        <p14:creationId xmlns:p14="http://schemas.microsoft.com/office/powerpoint/2010/main" val="26582677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258E5-FE68-663C-19E8-2E10BBDE37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61029F-A168-BC37-E604-A2F2A72D912B}"/>
              </a:ext>
            </a:extLst>
          </p:cNvPr>
          <p:cNvSpPr>
            <a:spLocks noGrp="1"/>
          </p:cNvSpPr>
          <p:nvPr>
            <p:ph type="title"/>
          </p:nvPr>
        </p:nvSpPr>
        <p:spPr>
          <a:xfrm>
            <a:off x="1008666" y="0"/>
            <a:ext cx="10364451" cy="1596177"/>
          </a:xfrm>
        </p:spPr>
        <p:txBody>
          <a:bodyPr>
            <a:normAutofit/>
          </a:bodyPr>
          <a:lstStyle/>
          <a:p>
            <a:r>
              <a:rPr lang="en-US" sz="2400" b="1" dirty="0"/>
              <a:t>CONCLUSION</a:t>
            </a:r>
            <a:endParaRPr lang="en-IN" sz="2400" b="1" dirty="0"/>
          </a:p>
        </p:txBody>
      </p:sp>
      <p:sp>
        <p:nvSpPr>
          <p:cNvPr id="3" name="Content Placeholder 2">
            <a:extLst>
              <a:ext uri="{FF2B5EF4-FFF2-40B4-BE49-F238E27FC236}">
                <a16:creationId xmlns:a16="http://schemas.microsoft.com/office/drawing/2014/main" id="{F44E34EC-DDC0-3AD8-52EB-80E28D7F5BE8}"/>
              </a:ext>
            </a:extLst>
          </p:cNvPr>
          <p:cNvSpPr>
            <a:spLocks noGrp="1"/>
          </p:cNvSpPr>
          <p:nvPr>
            <p:ph idx="1"/>
          </p:nvPr>
        </p:nvSpPr>
        <p:spPr>
          <a:xfrm>
            <a:off x="913774" y="2151433"/>
            <a:ext cx="10364452" cy="3424107"/>
          </a:xfrm>
        </p:spPr>
        <p:txBody>
          <a:bodyPr>
            <a:normAutofit fontScale="85000" lnSpcReduction="20000"/>
          </a:bodyPr>
          <a:lstStyle/>
          <a:p>
            <a:pPr marL="285750" indent="-285750">
              <a:buFont typeface="Wingdings" panose="05000000000000000000" pitchFamily="2" charset="2"/>
              <a:buChar char="Ø"/>
            </a:pPr>
            <a:r>
              <a:rPr lang="en-US" altLang="zh-CN" dirty="0"/>
              <a:t>The analysis reveals clear patterns in ticket volume, resolution time and satisfaction levels across categories and time periods.</a:t>
            </a:r>
          </a:p>
          <a:p>
            <a:pPr marL="285750" indent="-285750">
              <a:buFont typeface="Wingdings" panose="05000000000000000000" pitchFamily="2" charset="2"/>
              <a:buChar char="Ø"/>
            </a:pPr>
            <a:r>
              <a:rPr lang="en-US" altLang="zh-CN" dirty="0"/>
              <a:t>Certain request categories and time periods require higher technical effort leading to longer resolution times.</a:t>
            </a:r>
          </a:p>
          <a:p>
            <a:pPr marL="285750" indent="-285750">
              <a:buFont typeface="Wingdings" panose="05000000000000000000" pitchFamily="2" charset="2"/>
              <a:buChar char="Ø"/>
            </a:pPr>
            <a:r>
              <a:rPr lang="en-US" altLang="zh-CN" dirty="0"/>
              <a:t>Agent performance and workload distribution indicate opportunities for process optimization and skill enhancement.</a:t>
            </a:r>
          </a:p>
          <a:p>
            <a:pPr marL="285750" indent="-285750">
              <a:buFont typeface="Wingdings" panose="05000000000000000000" pitchFamily="2" charset="2"/>
              <a:buChar char="Ø"/>
            </a:pPr>
            <a:r>
              <a:rPr lang="en-US" altLang="zh-CN" dirty="0"/>
              <a:t>The dashboard provides a centralized, real-time view of IT support performance enabling faster and data-driven decisions.</a:t>
            </a:r>
          </a:p>
          <a:p>
            <a:pPr marL="285750" indent="-285750">
              <a:buFont typeface="Wingdings" panose="05000000000000000000" pitchFamily="2" charset="2"/>
              <a:buChar char="Ø"/>
            </a:pPr>
            <a:r>
              <a:rPr lang="en-US" altLang="zh-CN" dirty="0"/>
              <a:t>Overall, the insights support strategic investments in technology, training and resource allocation to improve efficiency and user satisfaction.</a:t>
            </a:r>
          </a:p>
          <a:p>
            <a:endParaRPr lang="en-IN" dirty="0"/>
          </a:p>
        </p:txBody>
      </p:sp>
    </p:spTree>
    <p:extLst>
      <p:ext uri="{BB962C8B-B14F-4D97-AF65-F5344CB8AC3E}">
        <p14:creationId xmlns:p14="http://schemas.microsoft.com/office/powerpoint/2010/main" val="3085592738"/>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Droplet</Template>
  <TotalTime>146</TotalTime>
  <Words>967</Words>
  <Application>Microsoft Office PowerPoint</Application>
  <PresentationFormat>Widescreen</PresentationFormat>
  <Paragraphs>104</Paragraphs>
  <Slides>14</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vt:lpstr>
      <vt:lpstr>Calibri</vt:lpstr>
      <vt:lpstr>Lato</vt:lpstr>
      <vt:lpstr>Posterama</vt:lpstr>
      <vt:lpstr>Posterama Text SemiBold</vt:lpstr>
      <vt:lpstr>Tw Cen MT</vt:lpstr>
      <vt:lpstr>Wingdings</vt:lpstr>
      <vt:lpstr>Droplet</vt:lpstr>
      <vt:lpstr>PowerPoint Presentation</vt:lpstr>
      <vt:lpstr>PowerPoint Presentation</vt:lpstr>
      <vt:lpstr>PowerPoint Presentation</vt:lpstr>
      <vt:lpstr>DDATA SUMMARY UMMARYDADA</vt:lpstr>
      <vt:lpstr>DATA CLEANING &amp; PRE-PROCESSING </vt:lpstr>
      <vt:lpstr>DATA CLEANING &amp; PRE-PROCESSING </vt:lpstr>
      <vt:lpstr>TICKET VOLUME TREND ANALYSIS (2016-2020)</vt:lpstr>
      <vt:lpstr>TICKET DISTRIBUTION BY REQUEST CATEGORY</vt:lpstr>
      <vt:lpstr>SATISFACTION RATE OVER TIME (2016-2020)</vt:lpstr>
      <vt:lpstr>RESOLUTION TIME EFFICIENCY ANALYSIS BY REQUEST CATEGORY</vt:lpstr>
      <vt:lpstr>SEVERITY-BASED IT TICKET DISTRIBUTION ANALYSIS</vt:lpstr>
      <vt:lpstr>Recommendations </vt:lpstr>
      <vt:lpstr>Dashboard</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Vijay Amrit Raj Ekka</dc:creator>
  <cp:lastModifiedBy>Vijay Amrit Raj Ekka</cp:lastModifiedBy>
  <cp:revision>5</cp:revision>
  <dcterms:created xsi:type="dcterms:W3CDTF">2026-09-04T15:58:28Z</dcterms:created>
  <dcterms:modified xsi:type="dcterms:W3CDTF">2026-09-15T16:06:51Z</dcterms:modified>
</cp:coreProperties>
</file>